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6" r:id="rId1"/>
  </p:sldMasterIdLst>
  <p:notesMasterIdLst>
    <p:notesMasterId r:id="rId50"/>
  </p:notesMasterIdLst>
  <p:sldIdLst>
    <p:sldId id="284" r:id="rId2"/>
    <p:sldId id="259" r:id="rId3"/>
    <p:sldId id="260" r:id="rId4"/>
    <p:sldId id="261" r:id="rId5"/>
    <p:sldId id="264" r:id="rId6"/>
    <p:sldId id="263" r:id="rId7"/>
    <p:sldId id="266" r:id="rId8"/>
    <p:sldId id="321" r:id="rId9"/>
    <p:sldId id="267" r:id="rId10"/>
    <p:sldId id="281" r:id="rId11"/>
    <p:sldId id="269" r:id="rId12"/>
    <p:sldId id="322" r:id="rId13"/>
    <p:sldId id="272" r:id="rId14"/>
    <p:sldId id="323" r:id="rId15"/>
    <p:sldId id="285" r:id="rId16"/>
    <p:sldId id="287" r:id="rId17"/>
    <p:sldId id="286" r:id="rId18"/>
    <p:sldId id="273" r:id="rId19"/>
    <p:sldId id="274" r:id="rId20"/>
    <p:sldId id="288" r:id="rId21"/>
    <p:sldId id="275" r:id="rId22"/>
    <p:sldId id="277" r:id="rId23"/>
    <p:sldId id="279" r:id="rId24"/>
    <p:sldId id="324" r:id="rId25"/>
    <p:sldId id="276" r:id="rId26"/>
    <p:sldId id="280" r:id="rId27"/>
    <p:sldId id="282" r:id="rId28"/>
    <p:sldId id="325" r:id="rId29"/>
    <p:sldId id="326" r:id="rId30"/>
    <p:sldId id="328" r:id="rId31"/>
    <p:sldId id="329" r:id="rId32"/>
    <p:sldId id="302" r:id="rId33"/>
    <p:sldId id="303" r:id="rId34"/>
    <p:sldId id="304" r:id="rId35"/>
    <p:sldId id="305" r:id="rId36"/>
    <p:sldId id="306" r:id="rId37"/>
    <p:sldId id="307" r:id="rId38"/>
    <p:sldId id="308" r:id="rId39"/>
    <p:sldId id="309" r:id="rId40"/>
    <p:sldId id="311" r:id="rId41"/>
    <p:sldId id="314" r:id="rId42"/>
    <p:sldId id="315" r:id="rId43"/>
    <p:sldId id="316" r:id="rId44"/>
    <p:sldId id="310" r:id="rId45"/>
    <p:sldId id="317" r:id="rId46"/>
    <p:sldId id="327" r:id="rId47"/>
    <p:sldId id="319" r:id="rId48"/>
    <p:sldId id="320"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66" d="100"/>
          <a:sy n="66" d="100"/>
        </p:scale>
        <p:origin x="480"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A MAHINDRAKAR" userId="f09a2cd1-1aff-4dcb-a309-4bd9a1e65aad" providerId="ADAL" clId="{81E1E601-F7E3-4DFF-A2CC-68967658338F}"/>
    <pc:docChg chg="custSel delSld modSld">
      <pc:chgData name="SMITHA MAHINDRAKAR" userId="f09a2cd1-1aff-4dcb-a309-4bd9a1e65aad" providerId="ADAL" clId="{81E1E601-F7E3-4DFF-A2CC-68967658338F}" dt="2026-01-19T18:14:58.492" v="57" actId="47"/>
      <pc:docMkLst>
        <pc:docMk/>
      </pc:docMkLst>
      <pc:sldChg chg="del">
        <pc:chgData name="SMITHA MAHINDRAKAR" userId="f09a2cd1-1aff-4dcb-a309-4bd9a1e65aad" providerId="ADAL" clId="{81E1E601-F7E3-4DFF-A2CC-68967658338F}" dt="2026-01-19T18:14:58.492" v="57" actId="47"/>
        <pc:sldMkLst>
          <pc:docMk/>
          <pc:sldMk cId="109857222" sldId="256"/>
        </pc:sldMkLst>
      </pc:sldChg>
      <pc:sldChg chg="modSp mod">
        <pc:chgData name="SMITHA MAHINDRAKAR" userId="f09a2cd1-1aff-4dcb-a309-4bd9a1e65aad" providerId="ADAL" clId="{81E1E601-F7E3-4DFF-A2CC-68967658338F}" dt="2026-01-19T18:14:49.213" v="56" actId="20577"/>
        <pc:sldMkLst>
          <pc:docMk/>
          <pc:sldMk cId="4177423989" sldId="284"/>
        </pc:sldMkLst>
        <pc:spChg chg="mod">
          <ac:chgData name="SMITHA MAHINDRAKAR" userId="f09a2cd1-1aff-4dcb-a309-4bd9a1e65aad" providerId="ADAL" clId="{81E1E601-F7E3-4DFF-A2CC-68967658338F}" dt="2026-01-19T18:14:49.213" v="56" actId="20577"/>
          <ac:spMkLst>
            <pc:docMk/>
            <pc:sldMk cId="4177423989" sldId="284"/>
            <ac:spMk id="4" creationId="{E8DFA3A0-76E2-4C67-9825-8D318264F21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7B3B-7F49-4FE3-ACB8-583F14E791AA}" type="datetimeFigureOut">
              <a:rPr lang="en-IN" smtClean="0"/>
              <a:t>24-02-2026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63036F-2D5B-49BB-95F8-AEFE4C56BC53}" type="slidenum">
              <a:rPr lang="en-IN" smtClean="0"/>
              <a:t>‹#›</a:t>
            </a:fld>
            <a:endParaRPr lang="en-IN"/>
          </a:p>
        </p:txBody>
      </p:sp>
    </p:spTree>
    <p:extLst>
      <p:ext uri="{BB962C8B-B14F-4D97-AF65-F5344CB8AC3E}">
        <p14:creationId xmlns:p14="http://schemas.microsoft.com/office/powerpoint/2010/main" val="1850355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2774EC-A677-4F50-99B5-E16A091DB19E}"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4543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1375580-3B50-4AC6-9417-DE3CD0BE6177}"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740597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739D8F-23E1-485A-A831-BCC8FF52788D}"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1420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B339B5-8A8D-4EE7-A909-469897924E85}" type="datetime1">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65683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0BFC0F-05AC-4F0E-8C31-F05BE4A9AD4A}" type="datetime1">
              <a:rPr lang="en-US" smtClean="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3070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9EDD2E4-48CE-4AD1-A6EC-2E2179088953}" type="datetime1">
              <a:rPr lang="en-US" smtClean="0"/>
              <a:t>2/24/2026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91779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AFC3836-5EE6-4DAD-8907-7ABB654E4799}" type="datetime1">
              <a:rPr lang="en-US" smtClean="0"/>
              <a:t>2/24/2026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027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C880B30-E355-4153-984E-2AE5024022BE}" type="datetime1">
              <a:rPr lang="en-US" smtClean="0"/>
              <a:t>2/24/2026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extLst>
      <p:ext uri="{BB962C8B-B14F-4D97-AF65-F5344CB8AC3E}">
        <p14:creationId xmlns:p14="http://schemas.microsoft.com/office/powerpoint/2010/main" val="1096664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B2D7E-9477-46ED-B553-5C9370B18136}" type="datetime1">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65349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73FEF5-8214-4558-83F2-6BF76F972F1C}" type="datetime1">
              <a:rPr lang="en-US" smtClean="0"/>
              <a:t>2/24/2026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92942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07CAD47-9AA5-4D30-B893-87F2BE3E0661}"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62238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1440D0B-2AD9-4F36-856B-D18368575D32}"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58574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A4C501-D473-47B9-A575-68C1CF7DA232}"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92395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7BF0A88-C063-450B-B6D4-C9346E1EE13B}" type="datetime1">
              <a:rPr lang="en-US" smtClean="0"/>
              <a:t>2/24/2026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72518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2D82183-D933-4423-8BC3-D707DDE0FB4E}" type="datetime1">
              <a:rPr lang="en-US" smtClean="0"/>
              <a:t>2/24/2026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9764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44EAFA-8B74-4C16-8DCC-09DFCD832C2E}"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extLst>
      <p:ext uri="{BB962C8B-B14F-4D97-AF65-F5344CB8AC3E}">
        <p14:creationId xmlns:p14="http://schemas.microsoft.com/office/powerpoint/2010/main" val="2293219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283080-85F5-4E1D-A372-CF022E7B0FC4}" type="datetime1">
              <a:rPr lang="en-US" smtClean="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39192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27DEB2-F023-41D4-AFCD-5D73982B0F31}" type="datetime1">
              <a:rPr lang="en-US" smtClean="0"/>
              <a:t>2/24/2026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A0FAC45-43C5-40D8-BDC6-748A3E0CC12B}" type="slidenum">
              <a:rPr lang="en-IN" smtClean="0"/>
              <a:t>‹#›</a:t>
            </a:fld>
            <a:endParaRPr lang="en-IN"/>
          </a:p>
        </p:txBody>
      </p:sp>
    </p:spTree>
    <p:extLst>
      <p:ext uri="{BB962C8B-B14F-4D97-AF65-F5344CB8AC3E}">
        <p14:creationId xmlns:p14="http://schemas.microsoft.com/office/powerpoint/2010/main" val="1854133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07F5B2A-5D21-4840-B3BB-1C8A2B77DAC3}" type="datetime1">
              <a:rPr lang="en-US" smtClean="0"/>
              <a:t>2/24/2026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9201315"/>
      </p:ext>
    </p:extLst>
  </p:cSld>
  <p:clrMap bg1="dk1" tx1="lt1" bg2="dk2" tx2="lt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termscompared.com/capital-vs-capitol/" TargetMode="External"/><Relationship Id="rId2" Type="http://schemas.openxmlformats.org/officeDocument/2006/relationships/hyperlink" Target="https://www.termscompared.com/difference-between-cash-flow-and-fund-flow/" TargetMode="External"/><Relationship Id="rId1" Type="http://schemas.openxmlformats.org/officeDocument/2006/relationships/slideLayout" Target="../slideLayouts/slideLayout2.xml"/><Relationship Id="rId6" Type="http://schemas.openxmlformats.org/officeDocument/2006/relationships/hyperlink" Target="https://www.termscompared.com/therefore-vs-thereby/" TargetMode="External"/><Relationship Id="rId5" Type="http://schemas.openxmlformats.org/officeDocument/2006/relationships/hyperlink" Target="https://www.termscompared.com/difference-between-debtor-and-creditor/" TargetMode="External"/><Relationship Id="rId4" Type="http://schemas.openxmlformats.org/officeDocument/2006/relationships/hyperlink" Target="https://www.termscompared.com/return-on-equity-vs-cost-of-capita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hyperlink" Target="https://www.termscompared.com/difference-between-interest-rate-and-annual-percentage-rate-apr/" TargetMode="External"/><Relationship Id="rId2" Type="http://schemas.openxmlformats.org/officeDocument/2006/relationships/hyperlink" Target="https://www.termscompared.com/difference-between-dividend-and-interest/"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hyperlink" Target="https://www.termscompared.com/difference-between-leadership-and-management/" TargetMode="External"/><Relationship Id="rId2" Type="http://schemas.openxmlformats.org/officeDocument/2006/relationships/hyperlink" Target="https://www.termscompared.com/accept-vs-except/" TargetMode="Externa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DFA3A0-76E2-4C67-9825-8D318264F210}"/>
              </a:ext>
            </a:extLst>
          </p:cNvPr>
          <p:cNvSpPr>
            <a:spLocks noGrp="1"/>
          </p:cNvSpPr>
          <p:nvPr>
            <p:ph type="ctrTitle"/>
          </p:nvPr>
        </p:nvSpPr>
        <p:spPr/>
        <p:txBody>
          <a:bodyPr>
            <a:normAutofit fontScale="90000"/>
          </a:bodyPr>
          <a:lstStyle/>
          <a:p>
            <a:pPr>
              <a:lnSpc>
                <a:spcPct val="90000"/>
              </a:lnSpc>
            </a:pPr>
            <a:r>
              <a:rPr lang="en-US" sz="4400" b="1" dirty="0">
                <a:ea typeface="+mj-lt"/>
                <a:cs typeface="+mj-lt"/>
              </a:rPr>
              <a:t>UNIT-4</a:t>
            </a:r>
            <a:br>
              <a:rPr lang="en-US" sz="4400" b="1" dirty="0">
                <a:ea typeface="+mj-lt"/>
                <a:cs typeface="+mj-lt"/>
              </a:rPr>
            </a:br>
            <a:r>
              <a:rPr lang="en-US" sz="4400" b="1" dirty="0">
                <a:ea typeface="+mj-lt"/>
                <a:cs typeface="+mj-lt"/>
              </a:rPr>
              <a:t>Project Appraisal/ Evaluation Techniques</a:t>
            </a:r>
            <a:br>
              <a:rPr lang="en-US" sz="4400" b="1" dirty="0">
                <a:ea typeface="+mj-lt"/>
                <a:cs typeface="+mj-lt"/>
              </a:rPr>
            </a:br>
            <a:r>
              <a:rPr lang="en-US" sz="4400" b="1" dirty="0">
                <a:ea typeface="+mj-lt"/>
                <a:cs typeface="+mj-lt"/>
              </a:rPr>
              <a:t>Part-I</a:t>
            </a:r>
            <a:endParaRPr lang="en-US" sz="4400" dirty="0">
              <a:ea typeface="+mj-lt"/>
              <a:cs typeface="+mj-lt"/>
            </a:endParaRPr>
          </a:p>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US" sz="4800" b="0" i="0" u="none" strike="noStrike" kern="1200" cap="all" spc="0" normalizeH="0" baseline="0" noProof="0" dirty="0">
                <a:ln>
                  <a:noFill/>
                </a:ln>
                <a:solidFill>
                  <a:prstClr val="white"/>
                </a:solidFill>
                <a:effectLst/>
                <a:uLnTx/>
                <a:uFillTx/>
                <a:latin typeface="Century Gothic" panose="020B0502020202020204"/>
                <a:ea typeface="+mj-ea"/>
                <a:cs typeface="+mj-cs"/>
              </a:rPr>
              <a:t>Capital Budgeting</a:t>
            </a:r>
            <a:br>
              <a:rPr kumimoji="0" lang="en-US" sz="4800" b="0" i="0" u="none" strike="noStrike" kern="1200" cap="all" spc="0" normalizeH="0" baseline="0" noProof="0" dirty="0">
                <a:ln>
                  <a:noFill/>
                </a:ln>
                <a:solidFill>
                  <a:prstClr val="white"/>
                </a:solidFill>
                <a:effectLst/>
                <a:uLnTx/>
                <a:uFillTx/>
                <a:latin typeface="Century Gothic" panose="020B0502020202020204"/>
                <a:ea typeface="+mj-ea"/>
                <a:cs typeface="+mj-cs"/>
              </a:rPr>
            </a:br>
            <a:endParaRPr lang="en-US" dirty="0"/>
          </a:p>
        </p:txBody>
      </p:sp>
      <p:sp>
        <p:nvSpPr>
          <p:cNvPr id="2" name="Slide Number Placeholder 1">
            <a:extLst>
              <a:ext uri="{FF2B5EF4-FFF2-40B4-BE49-F238E27FC236}">
                <a16:creationId xmlns:a16="http://schemas.microsoft.com/office/drawing/2014/main" id="{8B77264E-FAF1-3C8A-B6B2-64EC6D80A355}"/>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17742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A2254-5D51-4C7D-B271-AACDAA33A91B}"/>
              </a:ext>
            </a:extLst>
          </p:cNvPr>
          <p:cNvSpPr>
            <a:spLocks noGrp="1"/>
          </p:cNvSpPr>
          <p:nvPr>
            <p:ph type="title"/>
          </p:nvPr>
        </p:nvSpPr>
        <p:spPr>
          <a:xfrm>
            <a:off x="677334" y="262218"/>
            <a:ext cx="8596668" cy="771712"/>
          </a:xfrm>
        </p:spPr>
        <p:txBody>
          <a:bodyPr>
            <a:normAutofit/>
          </a:bodyPr>
          <a:lstStyle/>
          <a:p>
            <a:r>
              <a:rPr lang="en-US" sz="4400" dirty="0"/>
              <a:t>Capital Budgeting</a:t>
            </a:r>
          </a:p>
        </p:txBody>
      </p:sp>
      <p:sp>
        <p:nvSpPr>
          <p:cNvPr id="3" name="Content Placeholder 2">
            <a:extLst>
              <a:ext uri="{FF2B5EF4-FFF2-40B4-BE49-F238E27FC236}">
                <a16:creationId xmlns:a16="http://schemas.microsoft.com/office/drawing/2014/main" id="{385AC94F-FD7A-4EFB-AD9E-EC3350E7A3FA}"/>
              </a:ext>
            </a:extLst>
          </p:cNvPr>
          <p:cNvSpPr>
            <a:spLocks noGrp="1"/>
          </p:cNvSpPr>
          <p:nvPr>
            <p:ph idx="1"/>
          </p:nvPr>
        </p:nvSpPr>
        <p:spPr>
          <a:xfrm>
            <a:off x="677334" y="1263396"/>
            <a:ext cx="10477086" cy="5171256"/>
          </a:xfrm>
        </p:spPr>
        <p:txBody>
          <a:bodyPr vert="horz" lIns="91440" tIns="45720" rIns="91440" bIns="45720" rtlCol="0" anchor="t">
            <a:noAutofit/>
          </a:bodyPr>
          <a:lstStyle/>
          <a:p>
            <a:pPr algn="just"/>
            <a:r>
              <a:rPr lang="en-US" sz="2600" dirty="0"/>
              <a:t>Capital budgeting is the long term investment decision for functioning of acquires, upgrades, replaces the assets such as land and buildings, plant and machinery and different types of long term projects.</a:t>
            </a:r>
          </a:p>
          <a:p>
            <a:pPr algn="just"/>
            <a:r>
              <a:rPr lang="en-US" sz="2600" dirty="0"/>
              <a:t>According to Charles T </a:t>
            </a:r>
            <a:r>
              <a:rPr lang="en-US" sz="2600" dirty="0" err="1"/>
              <a:t>Horngren</a:t>
            </a:r>
            <a:r>
              <a:rPr lang="en-US" sz="2600" dirty="0"/>
              <a:t> “Capital budgeting is the long term planning to make and finance proposed capital analysis.” </a:t>
            </a:r>
          </a:p>
          <a:p>
            <a:pPr algn="just"/>
            <a:r>
              <a:rPr lang="en-US" sz="2600" dirty="0"/>
              <a:t>The capital budgeting decisions involve long term planning for selection and also financing the investment proposals. Capital budgeting is the process of evaluating the relative worth of long term investment proposals on the basis of their respective profitability.</a:t>
            </a:r>
            <a:endParaRPr lang="en-US" sz="2600" b="1" dirty="0"/>
          </a:p>
        </p:txBody>
      </p:sp>
    </p:spTree>
    <p:extLst>
      <p:ext uri="{BB962C8B-B14F-4D97-AF65-F5344CB8AC3E}">
        <p14:creationId xmlns:p14="http://schemas.microsoft.com/office/powerpoint/2010/main" val="723596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8B2A-28B4-42EE-A595-75E1A0A74CDD}"/>
              </a:ext>
            </a:extLst>
          </p:cNvPr>
          <p:cNvSpPr>
            <a:spLocks noGrp="1"/>
          </p:cNvSpPr>
          <p:nvPr>
            <p:ph type="title"/>
          </p:nvPr>
        </p:nvSpPr>
        <p:spPr/>
        <p:txBody>
          <a:bodyPr/>
          <a:lstStyle/>
          <a:p>
            <a:r>
              <a:rPr lang="en-US" b="1" dirty="0">
                <a:ea typeface="+mj-lt"/>
                <a:cs typeface="+mj-lt"/>
              </a:rPr>
              <a:t>Nature of Capital Budgeting</a:t>
            </a:r>
            <a:endParaRPr lang="en-US" dirty="0"/>
          </a:p>
        </p:txBody>
      </p:sp>
      <p:sp>
        <p:nvSpPr>
          <p:cNvPr id="3" name="Content Placeholder 2">
            <a:extLst>
              <a:ext uri="{FF2B5EF4-FFF2-40B4-BE49-F238E27FC236}">
                <a16:creationId xmlns:a16="http://schemas.microsoft.com/office/drawing/2014/main" id="{67E8ABC3-137A-4EA1-9F86-29CB1A5879EA}"/>
              </a:ext>
            </a:extLst>
          </p:cNvPr>
          <p:cNvSpPr>
            <a:spLocks noGrp="1"/>
          </p:cNvSpPr>
          <p:nvPr>
            <p:ph idx="1"/>
          </p:nvPr>
        </p:nvSpPr>
        <p:spPr>
          <a:xfrm>
            <a:off x="363570" y="1442720"/>
            <a:ext cx="9918350" cy="5120639"/>
          </a:xfrm>
        </p:spPr>
        <p:txBody>
          <a:bodyPr vert="horz" lIns="91440" tIns="45720" rIns="91440" bIns="45720" rtlCol="0" anchor="t">
            <a:noAutofit/>
          </a:bodyPr>
          <a:lstStyle/>
          <a:p>
            <a:pPr algn="just"/>
            <a:r>
              <a:rPr lang="en-US" sz="2200" dirty="0"/>
              <a:t>Capital expenditure plans involve a huge investment in fixed assets. </a:t>
            </a:r>
          </a:p>
          <a:p>
            <a:pPr algn="just"/>
            <a:r>
              <a:rPr lang="en-US" sz="2200" dirty="0"/>
              <a:t>Capital budgeting decisions involve the exchange of current funds for the benefits to be achieved in future. </a:t>
            </a:r>
          </a:p>
          <a:p>
            <a:pPr algn="just"/>
            <a:r>
              <a:rPr lang="en-US" sz="2200" dirty="0"/>
              <a:t>The future benefits are expected and rate to be realized over a series of years. </a:t>
            </a:r>
          </a:p>
          <a:p>
            <a:pPr algn="just"/>
            <a:r>
              <a:rPr lang="en-US" sz="2200" dirty="0"/>
              <a:t>The funds are invested in non-flexible long term funds. </a:t>
            </a:r>
          </a:p>
          <a:p>
            <a:pPr algn="just"/>
            <a:r>
              <a:rPr lang="en-US" sz="2200" dirty="0"/>
              <a:t>Preparation of capital budget plans involve forecasting of several years profits in advance in order to judge the profitability of projects.</a:t>
            </a:r>
          </a:p>
          <a:p>
            <a:pPr algn="just"/>
            <a:r>
              <a:rPr lang="en-US" sz="2200" dirty="0"/>
              <a:t>In view of the investment of large amount for a fairly long period of time, any error in the evaluation of investment projects, may lead to serious consequences, the problem will be followed a series of years. </a:t>
            </a:r>
          </a:p>
        </p:txBody>
      </p:sp>
    </p:spTree>
    <p:extLst>
      <p:ext uri="{BB962C8B-B14F-4D97-AF65-F5344CB8AC3E}">
        <p14:creationId xmlns:p14="http://schemas.microsoft.com/office/powerpoint/2010/main" val="2771284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E02D-AA8A-48EC-B2CC-D762123C545E}"/>
              </a:ext>
            </a:extLst>
          </p:cNvPr>
          <p:cNvSpPr>
            <a:spLocks noGrp="1"/>
          </p:cNvSpPr>
          <p:nvPr>
            <p:ph type="title"/>
          </p:nvPr>
        </p:nvSpPr>
        <p:spPr>
          <a:xfrm>
            <a:off x="677334" y="609600"/>
            <a:ext cx="8596668" cy="912254"/>
          </a:xfrm>
        </p:spPr>
        <p:txBody>
          <a:bodyPr>
            <a:normAutofit fontScale="90000"/>
          </a:bodyPr>
          <a:lstStyle/>
          <a:p>
            <a:r>
              <a:rPr lang="en-US" sz="3200" b="1" dirty="0">
                <a:ea typeface="+mj-lt"/>
                <a:cs typeface="+mj-lt"/>
              </a:rPr>
              <a:t>Need and Importance of Capital Budgeting</a:t>
            </a:r>
            <a:endParaRPr lang="en-US" sz="3200" dirty="0"/>
          </a:p>
        </p:txBody>
      </p:sp>
      <p:sp>
        <p:nvSpPr>
          <p:cNvPr id="3" name="Content Placeholder 2">
            <a:extLst>
              <a:ext uri="{FF2B5EF4-FFF2-40B4-BE49-F238E27FC236}">
                <a16:creationId xmlns:a16="http://schemas.microsoft.com/office/drawing/2014/main" id="{0EBA9556-33B0-4935-B4C4-F262E68439B4}"/>
              </a:ext>
            </a:extLst>
          </p:cNvPr>
          <p:cNvSpPr>
            <a:spLocks noGrp="1"/>
          </p:cNvSpPr>
          <p:nvPr>
            <p:ph idx="1"/>
          </p:nvPr>
        </p:nvSpPr>
        <p:spPr>
          <a:xfrm>
            <a:off x="408393" y="1521854"/>
            <a:ext cx="9335047" cy="4696066"/>
          </a:xfrm>
        </p:spPr>
        <p:txBody>
          <a:bodyPr vert="horz" lIns="91440" tIns="45720" rIns="91440" bIns="45720" rtlCol="0" anchor="t">
            <a:normAutofit/>
          </a:bodyPr>
          <a:lstStyle/>
          <a:p>
            <a:pPr algn="just"/>
            <a:endParaRPr lang="en-US" sz="2400" dirty="0">
              <a:ea typeface="+mn-lt"/>
              <a:cs typeface="+mn-lt"/>
            </a:endParaRPr>
          </a:p>
          <a:p>
            <a:r>
              <a:rPr lang="en-IN" sz="2400" dirty="0"/>
              <a:t>Efficient allocation of capital </a:t>
            </a:r>
          </a:p>
          <a:p>
            <a:r>
              <a:rPr lang="en-IN" sz="2400" dirty="0"/>
              <a:t>Long-term planning</a:t>
            </a:r>
          </a:p>
          <a:p>
            <a:r>
              <a:rPr lang="en-IN" sz="2400" dirty="0"/>
              <a:t>Risk assessment</a:t>
            </a:r>
          </a:p>
          <a:p>
            <a:r>
              <a:rPr lang="en-IN" sz="2400" dirty="0"/>
              <a:t>Profit maximization</a:t>
            </a:r>
          </a:p>
          <a:p>
            <a:r>
              <a:rPr lang="en-IN" sz="2400" dirty="0"/>
              <a:t>Cost control </a:t>
            </a:r>
          </a:p>
          <a:p>
            <a:r>
              <a:rPr lang="en-IN" sz="2400" dirty="0"/>
              <a:t>Competitive advantage</a:t>
            </a:r>
          </a:p>
          <a:p>
            <a:r>
              <a:rPr lang="en-IN" sz="2400" dirty="0"/>
              <a:t>Financial stability</a:t>
            </a:r>
            <a:endParaRPr lang="en-US" sz="2400" dirty="0"/>
          </a:p>
        </p:txBody>
      </p:sp>
    </p:spTree>
    <p:extLst>
      <p:ext uri="{BB962C8B-B14F-4D97-AF65-F5344CB8AC3E}">
        <p14:creationId xmlns:p14="http://schemas.microsoft.com/office/powerpoint/2010/main" val="3289349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523B-C609-4155-BD18-F0957047E42C}"/>
              </a:ext>
            </a:extLst>
          </p:cNvPr>
          <p:cNvSpPr>
            <a:spLocks noGrp="1"/>
          </p:cNvSpPr>
          <p:nvPr>
            <p:ph type="title"/>
          </p:nvPr>
        </p:nvSpPr>
        <p:spPr>
          <a:xfrm>
            <a:off x="677334" y="251012"/>
            <a:ext cx="8596668" cy="850153"/>
          </a:xfrm>
        </p:spPr>
        <p:txBody>
          <a:bodyPr>
            <a:normAutofit/>
          </a:bodyPr>
          <a:lstStyle/>
          <a:p>
            <a:r>
              <a:rPr lang="en-US" sz="4000" b="1" dirty="0"/>
              <a:t>Scope of Capital Budgeting</a:t>
            </a:r>
          </a:p>
        </p:txBody>
      </p:sp>
      <p:sp>
        <p:nvSpPr>
          <p:cNvPr id="3" name="Content Placeholder 2">
            <a:extLst>
              <a:ext uri="{FF2B5EF4-FFF2-40B4-BE49-F238E27FC236}">
                <a16:creationId xmlns:a16="http://schemas.microsoft.com/office/drawing/2014/main" id="{EA851195-0F6D-467A-93AB-2972909C48E1}"/>
              </a:ext>
            </a:extLst>
          </p:cNvPr>
          <p:cNvSpPr>
            <a:spLocks noGrp="1"/>
          </p:cNvSpPr>
          <p:nvPr>
            <p:ph idx="1"/>
          </p:nvPr>
        </p:nvSpPr>
        <p:spPr>
          <a:xfrm>
            <a:off x="374776" y="1185678"/>
            <a:ext cx="9784489" cy="4855684"/>
          </a:xfrm>
        </p:spPr>
        <p:txBody>
          <a:bodyPr vert="horz" lIns="91440" tIns="45720" rIns="91440" bIns="45720" rtlCol="0" anchor="t">
            <a:normAutofit/>
          </a:bodyPr>
          <a:lstStyle/>
          <a:p>
            <a:r>
              <a:rPr lang="en-US" sz="2000" dirty="0"/>
              <a:t>Construction of new building.</a:t>
            </a:r>
          </a:p>
          <a:p>
            <a:r>
              <a:rPr lang="en-US" sz="2000" dirty="0"/>
              <a:t> Renovation of existing building.</a:t>
            </a:r>
          </a:p>
          <a:p>
            <a:r>
              <a:rPr lang="en-US" sz="2000" dirty="0"/>
              <a:t> Purchase of technology from a foreign country.</a:t>
            </a:r>
          </a:p>
          <a:p>
            <a:r>
              <a:rPr lang="en-US" sz="2000" dirty="0"/>
              <a:t> Building a production facility. </a:t>
            </a:r>
          </a:p>
          <a:p>
            <a:r>
              <a:rPr lang="en-US" sz="2000" dirty="0"/>
              <a:t> Buying a new delivery truck. </a:t>
            </a:r>
          </a:p>
          <a:p>
            <a:r>
              <a:rPr lang="en-US" sz="2000" dirty="0"/>
              <a:t> Building a bridge. </a:t>
            </a:r>
          </a:p>
          <a:p>
            <a:r>
              <a:rPr lang="en-US" sz="2000" dirty="0"/>
              <a:t> Making a new product.</a:t>
            </a:r>
          </a:p>
          <a:p>
            <a:r>
              <a:rPr lang="en-US" sz="2000" dirty="0"/>
              <a:t> Starting a new business. </a:t>
            </a:r>
          </a:p>
          <a:p>
            <a:r>
              <a:rPr lang="en-US" sz="2000" dirty="0"/>
              <a:t> Expansion decision of existing plant and equipment. </a:t>
            </a:r>
          </a:p>
          <a:p>
            <a:r>
              <a:rPr lang="en-US" sz="2000" dirty="0"/>
              <a:t> Labor agreements.</a:t>
            </a:r>
          </a:p>
        </p:txBody>
      </p:sp>
    </p:spTree>
    <p:extLst>
      <p:ext uri="{BB962C8B-B14F-4D97-AF65-F5344CB8AC3E}">
        <p14:creationId xmlns:p14="http://schemas.microsoft.com/office/powerpoint/2010/main" val="287928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0461-9687-4843-AC10-7E29A0C08602}"/>
              </a:ext>
            </a:extLst>
          </p:cNvPr>
          <p:cNvSpPr>
            <a:spLocks noGrp="1"/>
          </p:cNvSpPr>
          <p:nvPr>
            <p:ph type="title"/>
          </p:nvPr>
        </p:nvSpPr>
        <p:spPr>
          <a:xfrm>
            <a:off x="677334" y="329453"/>
            <a:ext cx="8596668" cy="816536"/>
          </a:xfrm>
        </p:spPr>
        <p:txBody>
          <a:bodyPr>
            <a:normAutofit fontScale="90000"/>
          </a:bodyPr>
          <a:lstStyle/>
          <a:p>
            <a:r>
              <a:rPr lang="en-US" sz="4000" b="1" dirty="0"/>
              <a:t>Capital Budgeting-Process</a:t>
            </a:r>
            <a:br>
              <a:rPr lang="en-US" sz="4000" b="1" dirty="0"/>
            </a:br>
            <a:br>
              <a:rPr lang="en-US" sz="4000" b="1" dirty="0"/>
            </a:br>
            <a:endParaRPr lang="en-US" sz="4000" b="1" dirty="0"/>
          </a:p>
        </p:txBody>
      </p:sp>
      <p:sp>
        <p:nvSpPr>
          <p:cNvPr id="3" name="Content Placeholder 2">
            <a:extLst>
              <a:ext uri="{FF2B5EF4-FFF2-40B4-BE49-F238E27FC236}">
                <a16:creationId xmlns:a16="http://schemas.microsoft.com/office/drawing/2014/main" id="{E92BB5FE-5D20-4B7E-AB79-670A1E9F1BB7}"/>
              </a:ext>
            </a:extLst>
          </p:cNvPr>
          <p:cNvSpPr>
            <a:spLocks noGrp="1"/>
          </p:cNvSpPr>
          <p:nvPr>
            <p:ph idx="1"/>
          </p:nvPr>
        </p:nvSpPr>
        <p:spPr>
          <a:xfrm>
            <a:off x="677334" y="1028796"/>
            <a:ext cx="9493137" cy="5606476"/>
          </a:xfrm>
        </p:spPr>
        <p:txBody>
          <a:bodyPr vert="horz" lIns="91440" tIns="45720" rIns="91440" bIns="45720" rtlCol="0" anchor="t">
            <a:noAutofit/>
          </a:bodyPr>
          <a:lstStyle/>
          <a:p>
            <a:pPr algn="just"/>
            <a:endParaRPr lang="en-US" b="1" dirty="0">
              <a:ea typeface="+mn-lt"/>
              <a:cs typeface="+mn-lt"/>
            </a:endParaRPr>
          </a:p>
          <a:p>
            <a:pPr algn="just"/>
            <a:r>
              <a:rPr lang="en-US" b="1" dirty="0">
                <a:ea typeface="+mn-lt"/>
                <a:cs typeface="+mn-lt"/>
              </a:rPr>
              <a:t>Initiating, </a:t>
            </a:r>
            <a:r>
              <a:rPr lang="en-US" dirty="0">
                <a:ea typeface="+mn-lt"/>
                <a:cs typeface="+mn-lt"/>
              </a:rPr>
              <a:t>generating and gathering investments ideas. </a:t>
            </a:r>
            <a:endParaRPr lang="en-US" dirty="0"/>
          </a:p>
          <a:p>
            <a:pPr algn="just"/>
            <a:r>
              <a:rPr lang="en-US" b="1" dirty="0">
                <a:ea typeface="+mn-lt"/>
                <a:cs typeface="+mn-lt"/>
              </a:rPr>
              <a:t>Analyzing </a:t>
            </a:r>
            <a:r>
              <a:rPr lang="en-US" dirty="0">
                <a:ea typeface="+mn-lt"/>
                <a:cs typeface="+mn-lt"/>
              </a:rPr>
              <a:t>the costs and benefits for proposed investments by: </a:t>
            </a:r>
            <a:endParaRPr lang="en-US" dirty="0"/>
          </a:p>
          <a:p>
            <a:pPr marL="0" indent="0" algn="just">
              <a:buNone/>
            </a:pPr>
            <a:r>
              <a:rPr lang="en-US" dirty="0">
                <a:ea typeface="+mn-lt"/>
                <a:cs typeface="+mn-lt"/>
              </a:rPr>
              <a:t>      –</a:t>
            </a:r>
            <a:r>
              <a:rPr lang="en-US" i="1" dirty="0">
                <a:ea typeface="+mn-lt"/>
                <a:cs typeface="+mn-lt"/>
              </a:rPr>
              <a:t>Forecasting </a:t>
            </a:r>
            <a:r>
              <a:rPr lang="en-US" dirty="0">
                <a:ea typeface="+mn-lt"/>
                <a:cs typeface="+mn-lt"/>
              </a:rPr>
              <a:t>costs and benefits for each investment. </a:t>
            </a:r>
          </a:p>
          <a:p>
            <a:pPr marL="0" indent="0" algn="just">
              <a:buNone/>
            </a:pPr>
            <a:r>
              <a:rPr lang="en-US" dirty="0">
                <a:ea typeface="+mn-lt"/>
                <a:cs typeface="+mn-lt"/>
              </a:rPr>
              <a:t>     –</a:t>
            </a:r>
            <a:r>
              <a:rPr lang="en-US" i="1" dirty="0">
                <a:ea typeface="+mn-lt"/>
                <a:cs typeface="+mn-lt"/>
              </a:rPr>
              <a:t>Evaluating </a:t>
            </a:r>
            <a:r>
              <a:rPr lang="en-US" dirty="0">
                <a:ea typeface="+mn-lt"/>
                <a:cs typeface="+mn-lt"/>
              </a:rPr>
              <a:t>the costs and benefits based on </a:t>
            </a:r>
            <a:r>
              <a:rPr lang="en-US" b="1" dirty="0">
                <a:ea typeface="+mn-lt"/>
                <a:cs typeface="+mn-lt"/>
              </a:rPr>
              <a:t>CB </a:t>
            </a:r>
            <a:r>
              <a:rPr lang="en-US" dirty="0">
                <a:ea typeface="+mn-lt"/>
                <a:cs typeface="+mn-lt"/>
              </a:rPr>
              <a:t>techniques. </a:t>
            </a:r>
            <a:endParaRPr lang="en-US" dirty="0"/>
          </a:p>
          <a:p>
            <a:pPr algn="just"/>
            <a:r>
              <a:rPr lang="en-US" b="1" dirty="0">
                <a:ea typeface="+mn-lt"/>
                <a:cs typeface="+mn-lt"/>
              </a:rPr>
              <a:t>Ranking </a:t>
            </a:r>
            <a:r>
              <a:rPr lang="en-US" dirty="0">
                <a:ea typeface="+mn-lt"/>
                <a:cs typeface="+mn-lt"/>
              </a:rPr>
              <a:t>the relative superiority of each investment alternative  based on financial performance worked out and choosing the best  investment opportunity from the given set of opportunities. </a:t>
            </a:r>
            <a:endParaRPr lang="en-US" dirty="0"/>
          </a:p>
          <a:p>
            <a:pPr algn="just"/>
            <a:r>
              <a:rPr lang="en-US" b="1" dirty="0">
                <a:ea typeface="+mn-lt"/>
                <a:cs typeface="+mn-lt"/>
              </a:rPr>
              <a:t>Implementing </a:t>
            </a:r>
            <a:r>
              <a:rPr lang="en-US" dirty="0">
                <a:ea typeface="+mn-lt"/>
                <a:cs typeface="+mn-lt"/>
              </a:rPr>
              <a:t>the investment alternative chosen. </a:t>
            </a:r>
            <a:endParaRPr lang="en-US" dirty="0"/>
          </a:p>
          <a:p>
            <a:pPr algn="just"/>
            <a:r>
              <a:rPr lang="en-US" b="1" dirty="0">
                <a:ea typeface="+mn-lt"/>
                <a:cs typeface="+mn-lt"/>
              </a:rPr>
              <a:t>Monitoring &amp; making follow-up </a:t>
            </a:r>
            <a:r>
              <a:rPr lang="en-US" dirty="0">
                <a:ea typeface="+mn-lt"/>
                <a:cs typeface="+mn-lt"/>
              </a:rPr>
              <a:t>on the investment made  on  regular basis to see how far this investment opportunity has been  effective in the given framework of the company to achieve its  desired objectives. </a:t>
            </a:r>
            <a:endParaRPr lang="en-US" dirty="0"/>
          </a:p>
          <a:p>
            <a:endParaRPr lang="en-US" dirty="0"/>
          </a:p>
        </p:txBody>
      </p:sp>
    </p:spTree>
    <p:extLst>
      <p:ext uri="{BB962C8B-B14F-4D97-AF65-F5344CB8AC3E}">
        <p14:creationId xmlns:p14="http://schemas.microsoft.com/office/powerpoint/2010/main" val="1790107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CF93-4A92-4407-81BF-660816473CFF}"/>
              </a:ext>
            </a:extLst>
          </p:cNvPr>
          <p:cNvSpPr>
            <a:spLocks noGrp="1"/>
          </p:cNvSpPr>
          <p:nvPr>
            <p:ph type="title"/>
          </p:nvPr>
        </p:nvSpPr>
        <p:spPr/>
        <p:txBody>
          <a:bodyPr>
            <a:normAutofit/>
          </a:bodyPr>
          <a:lstStyle/>
          <a:p>
            <a:r>
              <a:rPr lang="en-US" sz="4000" b="1"/>
              <a:t>Capital budgeting Techniques</a:t>
            </a:r>
          </a:p>
        </p:txBody>
      </p:sp>
      <p:sp>
        <p:nvSpPr>
          <p:cNvPr id="3" name="Content Placeholder 2">
            <a:extLst>
              <a:ext uri="{FF2B5EF4-FFF2-40B4-BE49-F238E27FC236}">
                <a16:creationId xmlns:a16="http://schemas.microsoft.com/office/drawing/2014/main" id="{5EFE3E7E-17B0-49E1-B8C2-5F60E1FE2324}"/>
              </a:ext>
            </a:extLst>
          </p:cNvPr>
          <p:cNvSpPr>
            <a:spLocks noGrp="1"/>
          </p:cNvSpPr>
          <p:nvPr>
            <p:ph idx="1"/>
          </p:nvPr>
        </p:nvSpPr>
        <p:spPr>
          <a:xfrm>
            <a:off x="318746" y="1376178"/>
            <a:ext cx="10232726" cy="4967742"/>
          </a:xfrm>
        </p:spPr>
        <p:txBody>
          <a:bodyPr vert="horz" lIns="91440" tIns="45720" rIns="91440" bIns="45720" rtlCol="0" anchor="t">
            <a:normAutofit/>
          </a:bodyPr>
          <a:lstStyle/>
          <a:p>
            <a:pPr algn="just">
              <a:lnSpc>
                <a:spcPct val="150000"/>
              </a:lnSpc>
            </a:pPr>
            <a:r>
              <a:rPr lang="en-US" sz="2000" dirty="0">
                <a:ea typeface="+mn-lt"/>
                <a:cs typeface="+mn-lt"/>
              </a:rPr>
              <a:t>The capital budgeting appraisal methods are techniques of evaluation of investment proposal will help the company to decide upon the desirability of an investment proposal depending upon their; relative income generating capacity and rank them in order of their desirability. These methods provide the company a set of norms on the basis of which either it has to accept or reject the investment proposal. The most widely accepted techniques used in estimating the cost-returns of investment projects can be grouped under two categories.</a:t>
            </a:r>
            <a:endParaRPr lang="en-US" sz="2000" dirty="0"/>
          </a:p>
          <a:p>
            <a:pPr marL="0" indent="0" algn="just">
              <a:lnSpc>
                <a:spcPct val="150000"/>
              </a:lnSpc>
              <a:buNone/>
            </a:pPr>
            <a:r>
              <a:rPr lang="en-US" sz="2000" dirty="0">
                <a:ea typeface="+mn-lt"/>
                <a:cs typeface="+mn-lt"/>
              </a:rPr>
              <a:t>1. Traditional methods</a:t>
            </a:r>
            <a:endParaRPr lang="en-US" sz="2000" dirty="0"/>
          </a:p>
          <a:p>
            <a:pPr marL="0" indent="0" algn="just">
              <a:lnSpc>
                <a:spcPct val="150000"/>
              </a:lnSpc>
              <a:buNone/>
            </a:pPr>
            <a:r>
              <a:rPr lang="en-US" sz="2000" dirty="0">
                <a:ea typeface="+mn-lt"/>
                <a:cs typeface="+mn-lt"/>
              </a:rPr>
              <a:t>2. Discounted Cash flow methods</a:t>
            </a:r>
            <a:endParaRPr lang="en-US" sz="2000" dirty="0"/>
          </a:p>
        </p:txBody>
      </p:sp>
    </p:spTree>
    <p:extLst>
      <p:ext uri="{BB962C8B-B14F-4D97-AF65-F5344CB8AC3E}">
        <p14:creationId xmlns:p14="http://schemas.microsoft.com/office/powerpoint/2010/main" val="2703805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4CF93-4A92-4407-81BF-660816473CFF}"/>
              </a:ext>
            </a:extLst>
          </p:cNvPr>
          <p:cNvSpPr>
            <a:spLocks noGrp="1"/>
          </p:cNvSpPr>
          <p:nvPr>
            <p:ph type="title"/>
          </p:nvPr>
        </p:nvSpPr>
        <p:spPr/>
        <p:txBody>
          <a:bodyPr>
            <a:normAutofit/>
          </a:bodyPr>
          <a:lstStyle/>
          <a:p>
            <a:r>
              <a:rPr lang="en-US" sz="4000" b="1"/>
              <a:t>Capital budgeting Techniques</a:t>
            </a:r>
          </a:p>
        </p:txBody>
      </p:sp>
      <p:sp>
        <p:nvSpPr>
          <p:cNvPr id="3" name="Content Placeholder 2">
            <a:extLst>
              <a:ext uri="{FF2B5EF4-FFF2-40B4-BE49-F238E27FC236}">
                <a16:creationId xmlns:a16="http://schemas.microsoft.com/office/drawing/2014/main" id="{5EFE3E7E-17B0-49E1-B8C2-5F60E1FE2324}"/>
              </a:ext>
            </a:extLst>
          </p:cNvPr>
          <p:cNvSpPr>
            <a:spLocks noGrp="1"/>
          </p:cNvSpPr>
          <p:nvPr>
            <p:ph idx="1"/>
          </p:nvPr>
        </p:nvSpPr>
        <p:spPr>
          <a:xfrm>
            <a:off x="318746" y="1376178"/>
            <a:ext cx="10232726" cy="4967742"/>
          </a:xfrm>
        </p:spPr>
        <p:txBody>
          <a:bodyPr vert="horz" lIns="91440" tIns="45720" rIns="91440" bIns="45720" rtlCol="0" anchor="t">
            <a:normAutofit/>
          </a:bodyPr>
          <a:lstStyle/>
          <a:p>
            <a:pPr marL="0" indent="0" algn="just">
              <a:lnSpc>
                <a:spcPct val="150000"/>
              </a:lnSpc>
              <a:buNone/>
            </a:pPr>
            <a:r>
              <a:rPr lang="en-US" sz="2000" dirty="0"/>
              <a:t>1. Traditional methods</a:t>
            </a:r>
          </a:p>
          <a:p>
            <a:pPr algn="just">
              <a:lnSpc>
                <a:spcPct val="150000"/>
              </a:lnSpc>
            </a:pPr>
            <a:r>
              <a:rPr lang="en-US" sz="2000" dirty="0"/>
              <a:t> a. Payback Period </a:t>
            </a:r>
          </a:p>
          <a:p>
            <a:pPr algn="just">
              <a:lnSpc>
                <a:spcPct val="150000"/>
              </a:lnSpc>
            </a:pPr>
            <a:r>
              <a:rPr lang="en-US" sz="2000" dirty="0"/>
              <a:t>b. Accounting Rate of Return </a:t>
            </a:r>
          </a:p>
          <a:p>
            <a:pPr marL="0" indent="0" algn="just">
              <a:lnSpc>
                <a:spcPct val="150000"/>
              </a:lnSpc>
              <a:buNone/>
            </a:pPr>
            <a:r>
              <a:rPr lang="en-US" sz="2000" dirty="0"/>
              <a:t>2. Discounted cash flow methods or modern methods </a:t>
            </a:r>
          </a:p>
          <a:p>
            <a:pPr algn="just">
              <a:lnSpc>
                <a:spcPct val="150000"/>
              </a:lnSpc>
            </a:pPr>
            <a:r>
              <a:rPr lang="en-US" sz="2000" dirty="0"/>
              <a:t>a. Net Present Value (NPV)</a:t>
            </a:r>
          </a:p>
          <a:p>
            <a:pPr algn="just">
              <a:lnSpc>
                <a:spcPct val="150000"/>
              </a:lnSpc>
            </a:pPr>
            <a:r>
              <a:rPr lang="en-US" sz="2000" dirty="0"/>
              <a:t>B. Profitability Index (PI) </a:t>
            </a:r>
          </a:p>
          <a:p>
            <a:pPr algn="just">
              <a:lnSpc>
                <a:spcPct val="150000"/>
              </a:lnSpc>
            </a:pPr>
            <a:r>
              <a:rPr lang="en-US" sz="2000" dirty="0"/>
              <a:t>c. Internal Rate of Return (IRR)</a:t>
            </a:r>
          </a:p>
          <a:p>
            <a:pPr algn="just">
              <a:lnSpc>
                <a:spcPct val="150000"/>
              </a:lnSpc>
            </a:pPr>
            <a:endParaRPr lang="en-US" sz="2000" dirty="0"/>
          </a:p>
        </p:txBody>
      </p:sp>
    </p:spTree>
    <p:extLst>
      <p:ext uri="{BB962C8B-B14F-4D97-AF65-F5344CB8AC3E}">
        <p14:creationId xmlns:p14="http://schemas.microsoft.com/office/powerpoint/2010/main" val="293074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C90F2-D268-4D82-A5AD-D16F1BF3FFD9}"/>
              </a:ext>
            </a:extLst>
          </p:cNvPr>
          <p:cNvSpPr>
            <a:spLocks noGrp="1"/>
          </p:cNvSpPr>
          <p:nvPr>
            <p:ph type="title"/>
          </p:nvPr>
        </p:nvSpPr>
        <p:spPr>
          <a:xfrm>
            <a:off x="677334" y="329453"/>
            <a:ext cx="8596668" cy="939800"/>
          </a:xfrm>
        </p:spPr>
        <p:txBody>
          <a:bodyPr>
            <a:normAutofit fontScale="90000"/>
          </a:bodyPr>
          <a:lstStyle/>
          <a:p>
            <a:r>
              <a:rPr lang="en-US" b="1">
                <a:ea typeface="+mj-lt"/>
                <a:cs typeface="+mj-lt"/>
              </a:rPr>
              <a:t>Capital budgeting Techniques</a:t>
            </a:r>
            <a:br>
              <a:rPr lang="en-US" b="1" dirty="0">
                <a:ea typeface="+mj-lt"/>
                <a:cs typeface="+mj-lt"/>
              </a:rPr>
            </a:br>
            <a:r>
              <a:rPr lang="en-US" b="1">
                <a:ea typeface="+mj-lt"/>
                <a:cs typeface="+mj-lt"/>
              </a:rPr>
              <a:t>Traditional Methods</a:t>
            </a:r>
            <a:endParaRPr lang="en-US">
              <a:ea typeface="+mj-lt"/>
              <a:cs typeface="+mj-lt"/>
            </a:endParaRPr>
          </a:p>
          <a:p>
            <a:endParaRPr lang="en-US" dirty="0"/>
          </a:p>
        </p:txBody>
      </p:sp>
      <p:sp>
        <p:nvSpPr>
          <p:cNvPr id="3" name="Content Placeholder 2">
            <a:extLst>
              <a:ext uri="{FF2B5EF4-FFF2-40B4-BE49-F238E27FC236}">
                <a16:creationId xmlns:a16="http://schemas.microsoft.com/office/drawing/2014/main" id="{483A4DCF-A411-4C47-A650-D09AAE0E0794}"/>
              </a:ext>
            </a:extLst>
          </p:cNvPr>
          <p:cNvSpPr>
            <a:spLocks noGrp="1"/>
          </p:cNvSpPr>
          <p:nvPr>
            <p:ph idx="1"/>
          </p:nvPr>
        </p:nvSpPr>
        <p:spPr>
          <a:xfrm>
            <a:off x="677334" y="1432207"/>
            <a:ext cx="8596668" cy="4609155"/>
          </a:xfrm>
        </p:spPr>
        <p:txBody>
          <a:bodyPr vert="horz" lIns="91440" tIns="45720" rIns="91440" bIns="45720" rtlCol="0" anchor="t">
            <a:normAutofit fontScale="92500"/>
          </a:bodyPr>
          <a:lstStyle/>
          <a:p>
            <a:pPr algn="just">
              <a:lnSpc>
                <a:spcPct val="150000"/>
              </a:lnSpc>
            </a:pPr>
            <a:r>
              <a:rPr lang="en-US" sz="2400">
                <a:ea typeface="+mn-lt"/>
                <a:cs typeface="+mn-lt"/>
              </a:rPr>
              <a:t>These methods are based on the principles to determine the desirability of an investment project on the basis of its useful life and expected returns. These method depend upon the accounting information available from the books of accounts of the company. These will not take into account the concept of ‘time value of money’, which is a significant factor to determine the desirability of a project in terms of present value</a:t>
            </a:r>
            <a:r>
              <a:rPr lang="en-US" sz="2400" dirty="0">
                <a:ea typeface="+mn-lt"/>
                <a:cs typeface="+mn-lt"/>
              </a:rPr>
              <a:t>.</a:t>
            </a:r>
            <a:endParaRPr lang="en-US" sz="2400"/>
          </a:p>
        </p:txBody>
      </p:sp>
    </p:spTree>
    <p:extLst>
      <p:ext uri="{BB962C8B-B14F-4D97-AF65-F5344CB8AC3E}">
        <p14:creationId xmlns:p14="http://schemas.microsoft.com/office/powerpoint/2010/main" val="276519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7378746-1AEC-5431-D421-4D2C04E59FC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772079" y="-1636295"/>
            <a:ext cx="5919536" cy="10327907"/>
          </a:xfrm>
        </p:spPr>
      </p:pic>
      <p:sp>
        <p:nvSpPr>
          <p:cNvPr id="3" name="Slide Number Placeholder 2">
            <a:extLst>
              <a:ext uri="{FF2B5EF4-FFF2-40B4-BE49-F238E27FC236}">
                <a16:creationId xmlns:a16="http://schemas.microsoft.com/office/drawing/2014/main" id="{E2028318-7BAE-5128-5678-74EE88BFAC05}"/>
              </a:ext>
            </a:extLst>
          </p:cNvPr>
          <p:cNvSpPr>
            <a:spLocks noGrp="1"/>
          </p:cNvSpPr>
          <p:nvPr>
            <p:ph type="sldNum" sz="quarter" idx="12"/>
          </p:nvPr>
        </p:nvSpPr>
        <p:spPr/>
        <p:txBody>
          <a:bodyPr/>
          <a:lstStyle/>
          <a:p>
            <a:fld id="{519954A3-9DFD-4C44-94BA-B95130A3BA1C}" type="slidenum">
              <a:rPr lang="en-US" smtClean="0"/>
              <a:pPr/>
              <a:t>10</a:t>
            </a:fld>
            <a:endParaRPr lang="en-US" dirty="0"/>
          </a:p>
        </p:txBody>
      </p:sp>
    </p:spTree>
    <p:extLst>
      <p:ext uri="{BB962C8B-B14F-4D97-AF65-F5344CB8AC3E}">
        <p14:creationId xmlns:p14="http://schemas.microsoft.com/office/powerpoint/2010/main" val="368471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D592A-9C3D-4D7B-B33F-F890D071B466}"/>
              </a:ext>
            </a:extLst>
          </p:cNvPr>
          <p:cNvSpPr>
            <a:spLocks noGrp="1"/>
          </p:cNvSpPr>
          <p:nvPr>
            <p:ph type="title"/>
          </p:nvPr>
        </p:nvSpPr>
        <p:spPr>
          <a:xfrm>
            <a:off x="677334" y="318248"/>
            <a:ext cx="8596668" cy="738094"/>
          </a:xfrm>
        </p:spPr>
        <p:txBody>
          <a:bodyPr>
            <a:normAutofit fontScale="90000"/>
          </a:bodyPr>
          <a:lstStyle/>
          <a:p>
            <a:r>
              <a:rPr lang="en-US" sz="4000" b="1">
                <a:ea typeface="+mj-lt"/>
                <a:cs typeface="+mj-lt"/>
              </a:rPr>
              <a:t>Traditional Methods</a:t>
            </a:r>
            <a:br>
              <a:rPr lang="en-US" sz="4000" b="1" dirty="0">
                <a:ea typeface="+mj-lt"/>
                <a:cs typeface="+mj-lt"/>
              </a:rPr>
            </a:br>
            <a:endParaRPr lang="en-US" sz="4000" b="1">
              <a:ea typeface="+mj-lt"/>
              <a:cs typeface="+mj-lt"/>
            </a:endParaRPr>
          </a:p>
          <a:p>
            <a:endParaRPr lang="en-US" sz="4000" dirty="0"/>
          </a:p>
        </p:txBody>
      </p:sp>
      <p:sp>
        <p:nvSpPr>
          <p:cNvPr id="3" name="Content Placeholder 2">
            <a:extLst>
              <a:ext uri="{FF2B5EF4-FFF2-40B4-BE49-F238E27FC236}">
                <a16:creationId xmlns:a16="http://schemas.microsoft.com/office/drawing/2014/main" id="{4DA632D4-F60B-4005-95F3-50DABB7597B1}"/>
              </a:ext>
            </a:extLst>
          </p:cNvPr>
          <p:cNvSpPr>
            <a:spLocks noGrp="1"/>
          </p:cNvSpPr>
          <p:nvPr>
            <p:ph idx="1"/>
          </p:nvPr>
        </p:nvSpPr>
        <p:spPr>
          <a:xfrm>
            <a:off x="621305" y="849502"/>
            <a:ext cx="9997402" cy="5696123"/>
          </a:xfrm>
        </p:spPr>
        <p:txBody>
          <a:bodyPr vert="horz" lIns="91440" tIns="45720" rIns="91440" bIns="45720" rtlCol="0" anchor="t">
            <a:normAutofit/>
          </a:bodyPr>
          <a:lstStyle/>
          <a:p>
            <a:pPr marL="0" indent="0">
              <a:buNone/>
            </a:pPr>
            <a:r>
              <a:rPr lang="en-US" sz="2400" b="1" dirty="0"/>
              <a:t>Payback Period Method</a:t>
            </a:r>
          </a:p>
          <a:p>
            <a:pPr>
              <a:lnSpc>
                <a:spcPct val="110000"/>
              </a:lnSpc>
              <a:buNone/>
            </a:pPr>
            <a:r>
              <a:rPr lang="en-US" sz="2400" dirty="0">
                <a:ea typeface="+mn-lt"/>
                <a:cs typeface="+mn-lt"/>
              </a:rPr>
              <a:t>    It is the most popular and widely recognized traditional method of evaluatin the investment proposals. It can be defined, as ‘the number of years required to recover the original cash out lay invested in a project’.</a:t>
            </a:r>
            <a:endParaRPr lang="en-US" dirty="0"/>
          </a:p>
          <a:p>
            <a:pPr>
              <a:lnSpc>
                <a:spcPct val="110000"/>
              </a:lnSpc>
              <a:buNone/>
            </a:pPr>
            <a:r>
              <a:rPr lang="en-US" sz="2400" b="1" dirty="0">
                <a:ea typeface="+mn-lt"/>
                <a:cs typeface="+mn-lt"/>
              </a:rPr>
              <a:t>According to Weston &amp; Brigham, </a:t>
            </a:r>
            <a:endParaRPr lang="en-US" b="1" dirty="0">
              <a:ea typeface="+mn-lt"/>
              <a:cs typeface="+mn-lt"/>
            </a:endParaRPr>
          </a:p>
          <a:p>
            <a:pPr>
              <a:lnSpc>
                <a:spcPct val="110000"/>
              </a:lnSpc>
              <a:buNone/>
            </a:pPr>
            <a:r>
              <a:rPr lang="en-US" sz="2400" b="1" dirty="0">
                <a:ea typeface="+mn-lt"/>
                <a:cs typeface="+mn-lt"/>
              </a:rPr>
              <a:t> </a:t>
            </a:r>
            <a:r>
              <a:rPr lang="en-US" sz="2400" dirty="0">
                <a:ea typeface="+mn-lt"/>
                <a:cs typeface="+mn-lt"/>
              </a:rPr>
              <a:t>   “The pay back period is the number of years it takes the firm to recover its original investment by net returns before depreciation, but after taxes”.</a:t>
            </a:r>
            <a:endParaRPr lang="en-US" dirty="0"/>
          </a:p>
          <a:p>
            <a:pPr>
              <a:lnSpc>
                <a:spcPct val="110000"/>
              </a:lnSpc>
              <a:buNone/>
            </a:pPr>
            <a:r>
              <a:rPr lang="en-US" sz="2400" b="1" dirty="0">
                <a:ea typeface="+mn-lt"/>
                <a:cs typeface="+mn-lt"/>
              </a:rPr>
              <a:t>According to James. C. </a:t>
            </a:r>
            <a:r>
              <a:rPr lang="en-US" sz="2400" b="1" dirty="0" err="1">
                <a:ea typeface="+mn-lt"/>
                <a:cs typeface="+mn-lt"/>
              </a:rPr>
              <a:t>Vanhorne</a:t>
            </a:r>
            <a:r>
              <a:rPr lang="en-US" sz="2400" b="1" dirty="0">
                <a:ea typeface="+mn-lt"/>
                <a:cs typeface="+mn-lt"/>
              </a:rPr>
              <a:t>, </a:t>
            </a:r>
            <a:endParaRPr lang="en-US" b="1" dirty="0">
              <a:ea typeface="+mn-lt"/>
              <a:cs typeface="+mn-lt"/>
            </a:endParaRPr>
          </a:p>
          <a:p>
            <a:pPr>
              <a:lnSpc>
                <a:spcPct val="110000"/>
              </a:lnSpc>
              <a:buNone/>
            </a:pPr>
            <a:r>
              <a:rPr lang="en-US" sz="2400" b="1" dirty="0">
                <a:ea typeface="+mn-lt"/>
                <a:cs typeface="+mn-lt"/>
              </a:rPr>
              <a:t> </a:t>
            </a:r>
            <a:r>
              <a:rPr lang="en-US" sz="2400" dirty="0">
                <a:ea typeface="+mn-lt"/>
                <a:cs typeface="+mn-lt"/>
              </a:rPr>
              <a:t>    “The payback period is the number of years required to recover initial cash investment.</a:t>
            </a:r>
            <a:endParaRPr lang="en-US" dirty="0"/>
          </a:p>
        </p:txBody>
      </p:sp>
      <p:sp>
        <p:nvSpPr>
          <p:cNvPr id="4" name="Slide Number Placeholder 3">
            <a:extLst>
              <a:ext uri="{FF2B5EF4-FFF2-40B4-BE49-F238E27FC236}">
                <a16:creationId xmlns:a16="http://schemas.microsoft.com/office/drawing/2014/main" id="{DDAB44E8-E138-B161-B7DD-4161280C6FED}"/>
              </a:ext>
            </a:extLst>
          </p:cNvPr>
          <p:cNvSpPr>
            <a:spLocks noGrp="1"/>
          </p:cNvSpPr>
          <p:nvPr>
            <p:ph type="sldNum" sz="quarter" idx="12"/>
          </p:nvPr>
        </p:nvSpPr>
        <p:spPr/>
        <p:txBody>
          <a:bodyPr/>
          <a:lstStyle/>
          <a:p>
            <a:fld id="{519954A3-9DFD-4C44-94BA-B95130A3BA1C}" type="slidenum">
              <a:rPr lang="en-US" smtClean="0"/>
              <a:pPr/>
              <a:t>11</a:t>
            </a:fld>
            <a:endParaRPr lang="en-US" dirty="0"/>
          </a:p>
        </p:txBody>
      </p:sp>
    </p:spTree>
    <p:extLst>
      <p:ext uri="{BB962C8B-B14F-4D97-AF65-F5344CB8AC3E}">
        <p14:creationId xmlns:p14="http://schemas.microsoft.com/office/powerpoint/2010/main" val="1393245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619" y="644106"/>
            <a:ext cx="9519089" cy="1184694"/>
          </a:xfrm>
        </p:spPr>
        <p:txBody>
          <a:bodyPr>
            <a:normAutofit fontScale="90000"/>
          </a:bodyPr>
          <a:lstStyle/>
          <a:p>
            <a:r>
              <a:rPr lang="en-US" b="1" dirty="0">
                <a:ea typeface="+mj-lt"/>
                <a:cs typeface="+mj-lt"/>
              </a:rPr>
              <a:t>Traditional Methods-</a:t>
            </a:r>
            <a:r>
              <a:rPr lang="en-US" b="1" dirty="0"/>
              <a:t>Payback Period Method</a:t>
            </a:r>
            <a:br>
              <a:rPr lang="en-US" b="1" dirty="0"/>
            </a:br>
            <a:br>
              <a:rPr lang="en-US" b="1" dirty="0">
                <a:ea typeface="+mj-lt"/>
                <a:cs typeface="+mj-lt"/>
              </a:rPr>
            </a:br>
            <a:endParaRPr lang="en-IN" dirty="0"/>
          </a:p>
        </p:txBody>
      </p:sp>
      <p:sp>
        <p:nvSpPr>
          <p:cNvPr id="3" name="Content Placeholder 2"/>
          <p:cNvSpPr>
            <a:spLocks noGrp="1"/>
          </p:cNvSpPr>
          <p:nvPr>
            <p:ph idx="1"/>
          </p:nvPr>
        </p:nvSpPr>
        <p:spPr>
          <a:xfrm>
            <a:off x="677334" y="1605281"/>
            <a:ext cx="8596668" cy="4436082"/>
          </a:xfrm>
        </p:spPr>
        <p:txBody>
          <a:bodyPr>
            <a:normAutofit lnSpcReduction="10000"/>
          </a:bodyPr>
          <a:lstStyle/>
          <a:p>
            <a:endParaRPr lang="en-US" sz="2800" b="1" dirty="0"/>
          </a:p>
          <a:p>
            <a:r>
              <a:rPr lang="en-US" sz="2800" b="1" dirty="0"/>
              <a:t>Advantages</a:t>
            </a:r>
          </a:p>
          <a:p>
            <a:pPr lvl="1"/>
            <a:r>
              <a:rPr lang="en-US" sz="2400" dirty="0"/>
              <a:t>Easy to calculate an understand</a:t>
            </a:r>
          </a:p>
          <a:p>
            <a:pPr lvl="1"/>
            <a:r>
              <a:rPr lang="en-IN" sz="2400" dirty="0"/>
              <a:t>Liquidity is emphasized</a:t>
            </a:r>
          </a:p>
          <a:p>
            <a:pPr lvl="1"/>
            <a:r>
              <a:rPr lang="en-IN" sz="2400" dirty="0"/>
              <a:t>Reliable technique in volatile business conditions</a:t>
            </a:r>
          </a:p>
          <a:p>
            <a:r>
              <a:rPr lang="en-US" sz="2800" b="1" dirty="0"/>
              <a:t>Disadvantages</a:t>
            </a:r>
          </a:p>
          <a:p>
            <a:pPr lvl="1"/>
            <a:r>
              <a:rPr lang="en-IN" sz="2400" dirty="0"/>
              <a:t>Post-payback earnings ignored</a:t>
            </a:r>
          </a:p>
          <a:p>
            <a:pPr lvl="1"/>
            <a:r>
              <a:rPr lang="en-US" sz="2400" dirty="0"/>
              <a:t>Timing of cash flows ignored</a:t>
            </a:r>
          </a:p>
          <a:p>
            <a:pPr lvl="1"/>
            <a:r>
              <a:rPr lang="en-IN" sz="2400" dirty="0"/>
              <a:t>Liquidity is over-emphasized:</a:t>
            </a:r>
          </a:p>
        </p:txBody>
      </p:sp>
    </p:spTree>
    <p:extLst>
      <p:ext uri="{BB962C8B-B14F-4D97-AF65-F5344CB8AC3E}">
        <p14:creationId xmlns:p14="http://schemas.microsoft.com/office/powerpoint/2010/main" val="2634637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97F5EC3-933F-A611-6EAF-98D1F54F8C3F}"/>
              </a:ext>
            </a:extLst>
          </p:cNvPr>
          <p:cNvSpPr>
            <a:spLocks noChangeArrowheads="1"/>
          </p:cNvSpPr>
          <p:nvPr/>
        </p:nvSpPr>
        <p:spPr bwMode="auto">
          <a:xfrm>
            <a:off x="293298" y="463482"/>
            <a:ext cx="11898702" cy="5539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Pay Back Method</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The pay-back period can be ascertained in the following manner:</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 Calculate annual net earnings (profits) before depreciation and after taxes; these are called annual cash inflows.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 Divide the initial outlay (cost) of the project by the annual cash inflow, where the project generates constant annual cash inflows.</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Thus, where the project generates constant cash inflows.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b="1" dirty="0">
                <a:ea typeface="+mn-lt"/>
                <a:cs typeface="+mn-lt"/>
              </a:rPr>
              <a:t>Payback period </a:t>
            </a:r>
            <a:r>
              <a:rPr lang="en-US" dirty="0">
                <a:ea typeface="+mn-lt"/>
                <a:cs typeface="+mn-lt"/>
              </a:rPr>
              <a:t>=    C</a:t>
            </a:r>
            <a:r>
              <a:rPr lang="en-US" sz="2400" u="sng" dirty="0">
                <a:ea typeface="+mn-lt"/>
                <a:cs typeface="+mn-lt"/>
              </a:rPr>
              <a:t>𝒂𝒔𝒉 𝒐𝒖𝒕𝒍𝒂𝒚 (𝑶𝑹)𝑶𝒓𝒊𝒈𝒊𝒏𝒂𝒍 𝒄𝒐𝒔𝒕 𝒐𝒇 𝒑𝒓𝒐𝒋𝒆𝒄𝒕</a:t>
            </a:r>
            <a:endParaRPr lang="en-US" sz="2400" dirty="0"/>
          </a:p>
          <a:p>
            <a:r>
              <a:rPr lang="en-US" dirty="0">
                <a:ea typeface="+mn-lt"/>
                <a:cs typeface="+mn-lt"/>
              </a:rPr>
              <a:t>                                                </a:t>
            </a:r>
            <a:r>
              <a:rPr lang="en-US" sz="2400" dirty="0">
                <a:ea typeface="+mn-lt"/>
                <a:cs typeface="+mn-lt"/>
              </a:rPr>
              <a:t>A𝒏𝒏𝒖𝒂𝒍 𝒄𝒂𝒔𝒉 𝒊𝒏𝒇𝒍𝒐𝒘</a:t>
            </a:r>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Slide Number Placeholder 1">
            <a:extLst>
              <a:ext uri="{FF2B5EF4-FFF2-40B4-BE49-F238E27FC236}">
                <a16:creationId xmlns:a16="http://schemas.microsoft.com/office/drawing/2014/main" id="{15782064-F0A7-638D-8ED9-E42A8D84780C}"/>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918850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944186" cy="609600"/>
          </a:xfrm>
        </p:spPr>
        <p:txBody>
          <a:bodyPr>
            <a:normAutofit fontScale="90000"/>
          </a:bodyPr>
          <a:lstStyle/>
          <a:p>
            <a:r>
              <a:rPr lang="en-US" b="1" dirty="0">
                <a:ea typeface="+mj-lt"/>
                <a:cs typeface="+mj-lt"/>
              </a:rPr>
              <a:t>Traditional Methods-Payback period method</a:t>
            </a:r>
            <a:br>
              <a:rPr lang="en-US" sz="4000" b="1" dirty="0">
                <a:ea typeface="+mj-lt"/>
                <a:cs typeface="+mj-lt"/>
              </a:rPr>
            </a:br>
            <a:endParaRPr lang="en-IN" dirty="0"/>
          </a:p>
        </p:txBody>
      </p:sp>
      <p:sp>
        <p:nvSpPr>
          <p:cNvPr id="3" name="Content Placeholder 2"/>
          <p:cNvSpPr>
            <a:spLocks noGrp="1"/>
          </p:cNvSpPr>
          <p:nvPr>
            <p:ph idx="1"/>
          </p:nvPr>
        </p:nvSpPr>
        <p:spPr>
          <a:xfrm>
            <a:off x="677334" y="1493521"/>
            <a:ext cx="10916568" cy="4547842"/>
          </a:xfrm>
        </p:spPr>
        <p:txBody>
          <a:bodyPr/>
          <a:lstStyle/>
          <a:p>
            <a:pPr marL="0" indent="0">
              <a:buNone/>
            </a:pPr>
            <a:endParaRPr lang="en-US" sz="2000" dirty="0">
              <a:ea typeface="+mn-lt"/>
              <a:cs typeface="+mn-lt"/>
            </a:endParaRPr>
          </a:p>
          <a:p>
            <a:pPr marL="0" indent="0">
              <a:buNone/>
            </a:pPr>
            <a:r>
              <a:rPr lang="en-IN" dirty="0"/>
              <a:t>Where the cash flows are uneven </a:t>
            </a:r>
          </a:p>
          <a:p>
            <a:pPr marL="0" indent="0">
              <a:buNone/>
            </a:pPr>
            <a:r>
              <a:rPr lang="en-US" altLang="en-US" dirty="0">
                <a:latin typeface="Calibri" panose="020F0502020204030204" pitchFamily="34" charset="0"/>
                <a:ea typeface="Calibri" panose="020F0502020204030204" pitchFamily="34" charset="0"/>
                <a:cs typeface="Times New Roman" panose="02020603050405020304" pitchFamily="18" charset="0"/>
              </a:rPr>
              <a:t>(3) Where the annual cash inflows (Profit before depreciation and after taxes) are unequal, the pay­back period can be found by adding up the cash inflows until the total is equal to the initial cash outlay of project or original cost of the asset.</a:t>
            </a:r>
            <a:endParaRPr lang="en-US" altLang="en-US" dirty="0">
              <a:latin typeface="Arial" panose="020B0604020202020204" pitchFamily="34" charset="0"/>
            </a:endParaRPr>
          </a:p>
          <a:p>
            <a:pPr marL="0" indent="0">
              <a:buNone/>
            </a:pPr>
            <a:endParaRPr lang="en-IN" dirty="0"/>
          </a:p>
          <a:p>
            <a:r>
              <a:rPr lang="en-IN" sz="2000" b="1" dirty="0"/>
              <a:t>Payback period = based year + </a:t>
            </a:r>
            <a:r>
              <a:rPr lang="en-IN" sz="2000" b="1" u="sng" dirty="0"/>
              <a:t>amount to be recouped</a:t>
            </a:r>
            <a:r>
              <a:rPr lang="en-IN" sz="2000" b="1" dirty="0"/>
              <a:t> </a:t>
            </a:r>
          </a:p>
          <a:p>
            <a:pPr marL="0" indent="0">
              <a:buNone/>
            </a:pPr>
            <a:r>
              <a:rPr lang="en-IN" sz="2000" b="1" dirty="0"/>
              <a:t>	 	 	 	 	                         Next year cash flows </a:t>
            </a:r>
          </a:p>
          <a:p>
            <a:pPr marL="0" indent="0" algn="just">
              <a:buNone/>
            </a:pPr>
            <a:r>
              <a:rPr lang="en-IN" sz="2000" dirty="0"/>
              <a:t>The shorter the length of the payback period, the better is the project in terms of paying back the original investment particularly where the future is uncertain the companies favour this method the better it is in terms of safety and liquidity. </a:t>
            </a:r>
          </a:p>
          <a:p>
            <a:pPr marL="0" indent="0">
              <a:buNone/>
            </a:pPr>
            <a:endParaRPr lang="en-IN" dirty="0"/>
          </a:p>
          <a:p>
            <a:pPr marL="0" indent="0">
              <a:buNone/>
            </a:pPr>
            <a:endParaRPr lang="en-IN" dirty="0"/>
          </a:p>
          <a:p>
            <a:pPr marL="0" indent="0">
              <a:buNone/>
            </a:pPr>
            <a:endParaRPr lang="en-US" sz="2000" dirty="0"/>
          </a:p>
          <a:p>
            <a:endParaRPr lang="en-IN" dirty="0"/>
          </a:p>
        </p:txBody>
      </p:sp>
    </p:spTree>
    <p:extLst>
      <p:ext uri="{BB962C8B-B14F-4D97-AF65-F5344CB8AC3E}">
        <p14:creationId xmlns:p14="http://schemas.microsoft.com/office/powerpoint/2010/main" val="3265705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8AC1D6-BE88-6DB5-A5E4-011DB440E80A}"/>
              </a:ext>
            </a:extLst>
          </p:cNvPr>
          <p:cNvSpPr txBox="1"/>
          <p:nvPr/>
        </p:nvSpPr>
        <p:spPr>
          <a:xfrm>
            <a:off x="731520" y="1155356"/>
            <a:ext cx="10530037" cy="3046988"/>
          </a:xfrm>
          <a:prstGeom prst="rect">
            <a:avLst/>
          </a:prstGeom>
          <a:noFill/>
        </p:spPr>
        <p:txBody>
          <a:bodyPr wrap="square">
            <a:spAutoFit/>
          </a:bodyPr>
          <a:lstStyle/>
          <a:p>
            <a:r>
              <a:rPr lang="en-IN" sz="2400" dirty="0"/>
              <a:t>The cost of a project is Rs 50,000 the annual cash inflows for the next 4 years are Rs 25,000, What is the payback period for the project?</a:t>
            </a:r>
          </a:p>
          <a:p>
            <a:endParaRPr lang="en-IN" sz="2400" dirty="0"/>
          </a:p>
          <a:p>
            <a:r>
              <a:rPr lang="en-IN" sz="2400" dirty="0"/>
              <a:t>Payback period= Cost of the project /Annual cash inflows = 50000/25000= 2 years</a:t>
            </a:r>
          </a:p>
          <a:p>
            <a:endParaRPr lang="en-IN" sz="2400" dirty="0"/>
          </a:p>
          <a:p>
            <a:r>
              <a:rPr lang="en-IN" sz="2400" dirty="0"/>
              <a:t>If another project has 3 years, for example, it is better to choose the above project because it has less payback period.</a:t>
            </a:r>
          </a:p>
        </p:txBody>
      </p:sp>
      <p:sp>
        <p:nvSpPr>
          <p:cNvPr id="4" name="Slide Number Placeholder 3">
            <a:extLst>
              <a:ext uri="{FF2B5EF4-FFF2-40B4-BE49-F238E27FC236}">
                <a16:creationId xmlns:a16="http://schemas.microsoft.com/office/drawing/2014/main" id="{515A4B54-439C-EFC4-075B-92B45F1F724D}"/>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3887175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388DD-2463-C5DC-6257-5446A0F43338}"/>
              </a:ext>
            </a:extLst>
          </p:cNvPr>
          <p:cNvSpPr>
            <a:spLocks noGrp="1"/>
          </p:cNvSpPr>
          <p:nvPr>
            <p:ph type="title"/>
          </p:nvPr>
        </p:nvSpPr>
        <p:spPr/>
        <p:txBody>
          <a:bodyPr/>
          <a:lstStyle/>
          <a:p>
            <a:r>
              <a:rPr lang="en-US" dirty="0"/>
              <a:t>Where the cash inflows are same., but timing is different.</a:t>
            </a:r>
            <a:endParaRPr lang="en-IN" dirty="0"/>
          </a:p>
        </p:txBody>
      </p:sp>
      <p:sp>
        <p:nvSpPr>
          <p:cNvPr id="3" name="Content Placeholder 2">
            <a:extLst>
              <a:ext uri="{FF2B5EF4-FFF2-40B4-BE49-F238E27FC236}">
                <a16:creationId xmlns:a16="http://schemas.microsoft.com/office/drawing/2014/main" id="{703E2A68-FB14-B37C-717E-C2CD410902FD}"/>
              </a:ext>
            </a:extLst>
          </p:cNvPr>
          <p:cNvSpPr>
            <a:spLocks noGrp="1"/>
          </p:cNvSpPr>
          <p:nvPr>
            <p:ph idx="1"/>
          </p:nvPr>
        </p:nvSpPr>
        <p:spPr/>
        <p:txBody>
          <a:bodyPr/>
          <a:lstStyle/>
          <a:p>
            <a:r>
              <a:rPr lang="en-US" dirty="0"/>
              <a:t>At times, the cash inflows may be different each year, but the total cash inflows over the life of the project may be the same. Sometimes, the payback period may be similar. In such a case, observe the timing of the cash inflows. Choose the project which has higher cash inflows in the initial years.</a:t>
            </a:r>
          </a:p>
          <a:p>
            <a:r>
              <a:rPr lang="en-US" dirty="0"/>
              <a:t>Two projects, costing Rs 20,000 each, have the following cash inflows. Both have the same payback period. Which one do you choose and </a:t>
            </a:r>
            <a:r>
              <a:rPr lang="en-US" dirty="0" err="1"/>
              <a:t>why?Ans</a:t>
            </a:r>
            <a:r>
              <a:rPr lang="en-US" dirty="0"/>
              <a:t> Project B</a:t>
            </a:r>
          </a:p>
          <a:p>
            <a:pPr marL="0" indent="0">
              <a:buNone/>
            </a:pPr>
            <a:r>
              <a:rPr lang="en-US" dirty="0"/>
              <a:t>   Year		Project A		Project B</a:t>
            </a:r>
          </a:p>
          <a:p>
            <a:pPr marL="0" indent="0">
              <a:buNone/>
            </a:pPr>
            <a:r>
              <a:rPr lang="en-US" dirty="0"/>
              <a:t>    1.		  8000			12,000</a:t>
            </a:r>
          </a:p>
          <a:p>
            <a:pPr marL="0" indent="0">
              <a:buNone/>
            </a:pPr>
            <a:r>
              <a:rPr lang="en-US" dirty="0"/>
              <a:t>    2.  		12,000			  8,000</a:t>
            </a:r>
            <a:endParaRPr lang="en-IN" dirty="0"/>
          </a:p>
        </p:txBody>
      </p:sp>
      <p:sp>
        <p:nvSpPr>
          <p:cNvPr id="4" name="Slide Number Placeholder 3">
            <a:extLst>
              <a:ext uri="{FF2B5EF4-FFF2-40B4-BE49-F238E27FC236}">
                <a16:creationId xmlns:a16="http://schemas.microsoft.com/office/drawing/2014/main" id="{2E239869-EAC2-602E-E716-A98DA752719B}"/>
              </a:ext>
            </a:extLst>
          </p:cNvPr>
          <p:cNvSpPr>
            <a:spLocks noGrp="1"/>
          </p:cNvSpPr>
          <p:nvPr>
            <p:ph type="sldNum" sz="quarter" idx="12"/>
          </p:nvPr>
        </p:nvSpPr>
        <p:spPr/>
        <p:txBody>
          <a:bodyPr/>
          <a:lstStyle/>
          <a:p>
            <a:fld id="{519954A3-9DFD-4C44-94BA-B95130A3BA1C}" type="slidenum">
              <a:rPr lang="en-US" smtClean="0"/>
              <a:pPr/>
              <a:t>16</a:t>
            </a:fld>
            <a:endParaRPr lang="en-US" dirty="0"/>
          </a:p>
        </p:txBody>
      </p:sp>
    </p:spTree>
    <p:extLst>
      <p:ext uri="{BB962C8B-B14F-4D97-AF65-F5344CB8AC3E}">
        <p14:creationId xmlns:p14="http://schemas.microsoft.com/office/powerpoint/2010/main" val="1793089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A23396-7084-5C71-8211-1BF4CB70D390}"/>
              </a:ext>
            </a:extLst>
          </p:cNvPr>
          <p:cNvSpPr>
            <a:spLocks noGrp="1"/>
          </p:cNvSpPr>
          <p:nvPr>
            <p:ph type="title"/>
          </p:nvPr>
        </p:nvSpPr>
        <p:spPr>
          <a:xfrm>
            <a:off x="646111" y="452718"/>
            <a:ext cx="9404723" cy="914069"/>
          </a:xfrm>
        </p:spPr>
        <p:txBody>
          <a:bodyPr/>
          <a:lstStyle/>
          <a:p>
            <a:r>
              <a:rPr lang="en-IN" dirty="0"/>
              <a:t>Where the cashflows are uneven</a:t>
            </a:r>
          </a:p>
        </p:txBody>
      </p:sp>
      <p:sp>
        <p:nvSpPr>
          <p:cNvPr id="4" name="Content Placeholder 3">
            <a:extLst>
              <a:ext uri="{FF2B5EF4-FFF2-40B4-BE49-F238E27FC236}">
                <a16:creationId xmlns:a16="http://schemas.microsoft.com/office/drawing/2014/main" id="{39243870-D58A-BBB2-1EF7-C5D618EBEE2A}"/>
              </a:ext>
            </a:extLst>
          </p:cNvPr>
          <p:cNvSpPr>
            <a:spLocks noGrp="1"/>
          </p:cNvSpPr>
          <p:nvPr>
            <p:ph idx="1"/>
          </p:nvPr>
        </p:nvSpPr>
        <p:spPr>
          <a:xfrm>
            <a:off x="679952" y="1366787"/>
            <a:ext cx="10510787" cy="4756483"/>
          </a:xfrm>
        </p:spPr>
        <p:txBody>
          <a:bodyPr>
            <a:normAutofit fontScale="85000" lnSpcReduction="20000"/>
          </a:bodyPr>
          <a:lstStyle/>
          <a:p>
            <a:r>
              <a:rPr lang="en-IN" sz="2000" dirty="0"/>
              <a:t>Where the cash flows are not uniform, they are said to be uneven. In such a case take the cumulative cash inflows and see how much time it takes to get back the original investment. </a:t>
            </a:r>
          </a:p>
          <a:p>
            <a:endParaRPr lang="en-US" dirty="0"/>
          </a:p>
          <a:p>
            <a:r>
              <a:rPr lang="en-US" dirty="0"/>
              <a:t>The cost of a project is 50000which has an expected life of 5 years. The cash inflows for next 5 years The Rs 24,000: Rs 26,000; Rs 20,000; Rs 17,000 and Rs 16,000 </a:t>
            </a:r>
            <a:r>
              <a:rPr lang="en-US" dirty="0" err="1"/>
              <a:t>sp</a:t>
            </a:r>
            <a:r>
              <a:rPr lang="en-US" dirty="0"/>
              <a:t> the cash inflows for next years period.</a:t>
            </a:r>
          </a:p>
          <a:p>
            <a:pPr marL="0" indent="0">
              <a:buNone/>
            </a:pPr>
            <a:r>
              <a:rPr lang="en-US" dirty="0" err="1"/>
              <a:t>ThuleCash</a:t>
            </a:r>
            <a:r>
              <a:rPr lang="en-US" dirty="0"/>
              <a:t> Inflows and Cumulative Cash Inflows for the Project</a:t>
            </a:r>
          </a:p>
          <a:p>
            <a:pPr marL="0" indent="0">
              <a:buNone/>
            </a:pPr>
            <a:r>
              <a:rPr lang="en-US" dirty="0"/>
              <a:t>Year   Cash inflows (Rs)		Cumulative cash inflows (Rs) </a:t>
            </a:r>
          </a:p>
          <a:p>
            <a:pPr marL="0" indent="0">
              <a:buNone/>
            </a:pPr>
            <a:r>
              <a:rPr lang="en-US" dirty="0"/>
              <a:t>1            24,000				24,000</a:t>
            </a:r>
          </a:p>
          <a:p>
            <a:pPr marL="0" indent="0">
              <a:buNone/>
            </a:pPr>
            <a:r>
              <a:rPr lang="en-US" dirty="0"/>
              <a:t>2            26,000				50.000</a:t>
            </a:r>
          </a:p>
          <a:p>
            <a:pPr marL="0" indent="0">
              <a:buNone/>
            </a:pPr>
            <a:r>
              <a:rPr lang="en-US" dirty="0"/>
              <a:t>3            20,000				70,000</a:t>
            </a:r>
          </a:p>
          <a:p>
            <a:pPr marL="0" indent="0">
              <a:buNone/>
            </a:pPr>
            <a:r>
              <a:rPr lang="en-US" dirty="0"/>
              <a:t>4            17,000				87,000</a:t>
            </a:r>
          </a:p>
          <a:p>
            <a:pPr marL="0" indent="0">
              <a:buNone/>
            </a:pPr>
            <a:r>
              <a:rPr lang="en-US" dirty="0"/>
              <a:t>5            16,000                          1,03,000</a:t>
            </a:r>
          </a:p>
          <a:p>
            <a:pPr marL="0" indent="0">
              <a:buNone/>
            </a:pPr>
            <a:r>
              <a:rPr lang="en-US" dirty="0"/>
              <a:t> The original investment can be recovered by the end of the second year and hence the project has 2 years of </a:t>
            </a:r>
            <a:r>
              <a:rPr lang="en-US"/>
              <a:t>payback period.</a:t>
            </a:r>
            <a:endParaRPr lang="en-IN" dirty="0"/>
          </a:p>
        </p:txBody>
      </p:sp>
      <p:sp>
        <p:nvSpPr>
          <p:cNvPr id="2" name="Slide Number Placeholder 1">
            <a:extLst>
              <a:ext uri="{FF2B5EF4-FFF2-40B4-BE49-F238E27FC236}">
                <a16:creationId xmlns:a16="http://schemas.microsoft.com/office/drawing/2014/main" id="{2D371A31-DF55-A97C-38EB-23BE7BAA84E2}"/>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001453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A2A5C0-17AB-4C46-4D1C-2E7F5E8D93AB}"/>
              </a:ext>
            </a:extLst>
          </p:cNvPr>
          <p:cNvPicPr>
            <a:picLocks noChangeAspect="1"/>
          </p:cNvPicPr>
          <p:nvPr/>
        </p:nvPicPr>
        <p:blipFill rotWithShape="1">
          <a:blip r:embed="rId2">
            <a:extLst>
              <a:ext uri="{28A0092B-C50C-407E-A947-70E740481C1C}">
                <a14:useLocalDpi xmlns:a14="http://schemas.microsoft.com/office/drawing/2010/main" val="0"/>
              </a:ext>
            </a:extLst>
          </a:blip>
          <a:srcRect b="9565"/>
          <a:stretch/>
        </p:blipFill>
        <p:spPr bwMode="auto">
          <a:xfrm>
            <a:off x="139148" y="238540"/>
            <a:ext cx="11847443" cy="6202016"/>
          </a:xfrm>
          <a:prstGeom prst="rect">
            <a:avLst/>
          </a:prstGeom>
          <a:noFill/>
        </p:spPr>
      </p:pic>
      <p:sp>
        <p:nvSpPr>
          <p:cNvPr id="3" name="Slide Number Placeholder 2">
            <a:extLst>
              <a:ext uri="{FF2B5EF4-FFF2-40B4-BE49-F238E27FC236}">
                <a16:creationId xmlns:a16="http://schemas.microsoft.com/office/drawing/2014/main" id="{4E2FB9AD-B1B4-6D30-3C16-78CF1A4F9716}"/>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608845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CC4081-5C6B-CA27-6115-4161C7EE6E51}"/>
              </a:ext>
            </a:extLst>
          </p:cNvPr>
          <p:cNvPicPr>
            <a:picLocks noChangeAspect="1"/>
          </p:cNvPicPr>
          <p:nvPr/>
        </p:nvPicPr>
        <p:blipFill rotWithShape="1">
          <a:blip r:embed="rId2">
            <a:extLst>
              <a:ext uri="{28A0092B-C50C-407E-A947-70E740481C1C}">
                <a14:useLocalDpi xmlns:a14="http://schemas.microsoft.com/office/drawing/2010/main" val="0"/>
              </a:ext>
            </a:extLst>
          </a:blip>
          <a:srcRect t="90135"/>
          <a:stretch/>
        </p:blipFill>
        <p:spPr bwMode="auto">
          <a:xfrm>
            <a:off x="266297" y="77511"/>
            <a:ext cx="11659403" cy="1393480"/>
          </a:xfrm>
          <a:prstGeom prst="rect">
            <a:avLst/>
          </a:prstGeom>
          <a:noFill/>
          <a:ln>
            <a:noFill/>
          </a:ln>
          <a:extLst>
            <a:ext uri="{53640926-AAD7-44D8-BBD7-CCE9431645EC}">
              <a14:shadowObscured xmlns:a14="http://schemas.microsoft.com/office/drawing/2010/main"/>
            </a:ext>
          </a:extLst>
        </p:spPr>
      </p:pic>
      <p:pic>
        <p:nvPicPr>
          <p:cNvPr id="3" name="Picture 2">
            <a:extLst>
              <a:ext uri="{FF2B5EF4-FFF2-40B4-BE49-F238E27FC236}">
                <a16:creationId xmlns:a16="http://schemas.microsoft.com/office/drawing/2014/main" id="{2E0C5E6C-406B-828D-824A-6A6777F90F34}"/>
              </a:ext>
            </a:extLst>
          </p:cNvPr>
          <p:cNvPicPr>
            <a:picLocks noChangeAspect="1"/>
          </p:cNvPicPr>
          <p:nvPr/>
        </p:nvPicPr>
        <p:blipFill rotWithShape="1">
          <a:blip r:embed="rId3">
            <a:extLst>
              <a:ext uri="{28A0092B-C50C-407E-A947-70E740481C1C}">
                <a14:useLocalDpi xmlns:a14="http://schemas.microsoft.com/office/drawing/2010/main" val="0"/>
              </a:ext>
            </a:extLst>
          </a:blip>
          <a:srcRect b="68666"/>
          <a:stretch/>
        </p:blipFill>
        <p:spPr bwMode="auto">
          <a:xfrm>
            <a:off x="266299" y="1470991"/>
            <a:ext cx="11659402" cy="4850296"/>
          </a:xfrm>
          <a:prstGeom prst="rect">
            <a:avLst/>
          </a:prstGeom>
          <a:noFill/>
          <a:ln>
            <a:noFill/>
          </a:ln>
          <a:extLst>
            <a:ext uri="{53640926-AAD7-44D8-BBD7-CCE9431645EC}">
              <a14:shadowObscured xmlns:a14="http://schemas.microsoft.com/office/drawing/2010/main"/>
            </a:ext>
          </a:extLst>
        </p:spPr>
      </p:pic>
      <p:sp>
        <p:nvSpPr>
          <p:cNvPr id="4" name="Slide Number Placeholder 3">
            <a:extLst>
              <a:ext uri="{FF2B5EF4-FFF2-40B4-BE49-F238E27FC236}">
                <a16:creationId xmlns:a16="http://schemas.microsoft.com/office/drawing/2014/main" id="{BA4D1D6F-F93F-BAE0-BB8A-C1E36141EAF9}"/>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886661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75C27C-1C0C-01CD-0E0A-F1C947F8B8D0}"/>
              </a:ext>
            </a:extLst>
          </p:cNvPr>
          <p:cNvSpPr>
            <a:spLocks noGrp="1"/>
          </p:cNvSpPr>
          <p:nvPr>
            <p:ph type="title"/>
          </p:nvPr>
        </p:nvSpPr>
        <p:spPr/>
        <p:txBody>
          <a:bodyPr/>
          <a:lstStyle/>
          <a:p>
            <a:r>
              <a:rPr lang="en-IN" dirty="0"/>
              <a:t>When </a:t>
            </a:r>
            <a:r>
              <a:rPr lang="en-IN"/>
              <a:t>inflows are not even</a:t>
            </a:r>
          </a:p>
        </p:txBody>
      </p:sp>
      <p:sp>
        <p:nvSpPr>
          <p:cNvPr id="4" name="Content Placeholder 3">
            <a:extLst>
              <a:ext uri="{FF2B5EF4-FFF2-40B4-BE49-F238E27FC236}">
                <a16:creationId xmlns:a16="http://schemas.microsoft.com/office/drawing/2014/main" id="{8FBC9729-EE11-8442-20C6-B3E0BC9316BF}"/>
              </a:ext>
            </a:extLst>
          </p:cNvPr>
          <p:cNvSpPr>
            <a:spLocks noGrp="1"/>
          </p:cNvSpPr>
          <p:nvPr>
            <p:ph idx="1"/>
          </p:nvPr>
        </p:nvSpPr>
        <p:spPr>
          <a:xfrm>
            <a:off x="1103312" y="1443790"/>
            <a:ext cx="10264124" cy="4804610"/>
          </a:xfrm>
        </p:spPr>
        <p:txBody>
          <a:bodyPr>
            <a:normAutofit/>
          </a:bodyPr>
          <a:lstStyle/>
          <a:p>
            <a:r>
              <a:rPr lang="en-IN" dirty="0"/>
              <a:t>Cost of the project is 24,000</a:t>
            </a:r>
          </a:p>
          <a:p>
            <a:pPr marL="0" indent="0">
              <a:buNone/>
            </a:pPr>
            <a:r>
              <a:rPr lang="en-IN" dirty="0"/>
              <a:t> Inflows 4000,8000,8000,10000for four years. Calculate Payback period.</a:t>
            </a:r>
          </a:p>
          <a:p>
            <a:pPr marL="0" indent="0">
              <a:buNone/>
            </a:pPr>
            <a:r>
              <a:rPr lang="en-IN" dirty="0"/>
              <a:t>	Year	Annual Inflows	          Cumulative Annual Cash Inflows(CACI)</a:t>
            </a:r>
          </a:p>
          <a:p>
            <a:pPr marL="0" indent="0">
              <a:buNone/>
            </a:pPr>
            <a:r>
              <a:rPr lang="en-IN" dirty="0"/>
              <a:t>  	1			4000					4000</a:t>
            </a:r>
          </a:p>
          <a:p>
            <a:pPr marL="0" indent="0">
              <a:buNone/>
            </a:pPr>
            <a:r>
              <a:rPr lang="en-IN" dirty="0"/>
              <a:t>	2			8000					12000</a:t>
            </a:r>
          </a:p>
          <a:p>
            <a:pPr marL="0" indent="0">
              <a:buNone/>
            </a:pPr>
            <a:r>
              <a:rPr lang="en-IN" dirty="0"/>
              <a:t>	3			8000					20000</a:t>
            </a:r>
          </a:p>
          <a:p>
            <a:pPr marL="0" indent="0">
              <a:buNone/>
            </a:pPr>
            <a:r>
              <a:rPr lang="en-IN" dirty="0"/>
              <a:t>	4			10000					30000</a:t>
            </a:r>
          </a:p>
          <a:p>
            <a:pPr marL="0" indent="0">
              <a:buNone/>
            </a:pPr>
            <a:r>
              <a:rPr lang="en-IN" dirty="0"/>
              <a:t>Formula in case of uneven inflows</a:t>
            </a:r>
          </a:p>
          <a:p>
            <a:pPr marL="0" indent="0">
              <a:buNone/>
            </a:pPr>
            <a:r>
              <a:rPr lang="en-IN" dirty="0"/>
              <a:t>=Lower yr+ </a:t>
            </a:r>
            <a:r>
              <a:rPr lang="en-IN" u="sng" dirty="0"/>
              <a:t>Cost of the project- CACI of Lower yr </a:t>
            </a:r>
            <a:r>
              <a:rPr lang="en-IN" dirty="0"/>
              <a:t> = 3+(</a:t>
            </a:r>
            <a:r>
              <a:rPr lang="en-IN" u="sng" dirty="0"/>
              <a:t>24000-20000)</a:t>
            </a:r>
            <a:r>
              <a:rPr lang="en-IN" dirty="0"/>
              <a:t> </a:t>
            </a:r>
          </a:p>
          <a:p>
            <a:pPr marL="0" indent="0">
              <a:buNone/>
            </a:pPr>
            <a:r>
              <a:rPr lang="en-IN" dirty="0"/>
              <a:t>			CACI of Upper yr- CACI of Lower yr		    30000-20000</a:t>
            </a:r>
          </a:p>
        </p:txBody>
      </p:sp>
      <p:sp>
        <p:nvSpPr>
          <p:cNvPr id="2" name="Slide Number Placeholder 1">
            <a:extLst>
              <a:ext uri="{FF2B5EF4-FFF2-40B4-BE49-F238E27FC236}">
                <a16:creationId xmlns:a16="http://schemas.microsoft.com/office/drawing/2014/main" id="{231ACBB7-4690-B3DB-B859-5FE1DD2F6383}"/>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3889950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8BD040F-226B-6CD7-3511-E2145B1EC1AA}"/>
              </a:ext>
            </a:extLst>
          </p:cNvPr>
          <p:cNvPicPr>
            <a:picLocks noChangeAspect="1"/>
          </p:cNvPicPr>
          <p:nvPr/>
        </p:nvPicPr>
        <p:blipFill rotWithShape="1">
          <a:blip r:embed="rId2">
            <a:extLst>
              <a:ext uri="{28A0092B-C50C-407E-A947-70E740481C1C}">
                <a14:useLocalDpi xmlns:a14="http://schemas.microsoft.com/office/drawing/2010/main" val="0"/>
              </a:ext>
            </a:extLst>
          </a:blip>
          <a:srcRect t="30553"/>
          <a:stretch/>
        </p:blipFill>
        <p:spPr bwMode="auto">
          <a:xfrm>
            <a:off x="224589" y="1063416"/>
            <a:ext cx="11608068" cy="5601903"/>
          </a:xfrm>
          <a:prstGeom prst="rect">
            <a:avLst/>
          </a:prstGeom>
          <a:noFill/>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A595AB93-3005-6AFE-A683-F61F811C1032}"/>
              </a:ext>
            </a:extLst>
          </p:cNvPr>
          <p:cNvSpPr txBox="1"/>
          <p:nvPr/>
        </p:nvSpPr>
        <p:spPr>
          <a:xfrm>
            <a:off x="3048802" y="3085824"/>
            <a:ext cx="6097604" cy="671915"/>
          </a:xfrm>
          <a:prstGeom prst="rect">
            <a:avLst/>
          </a:prstGeom>
          <a:noFill/>
        </p:spPr>
        <p:txBody>
          <a:bodyPr wrap="square">
            <a:spAutoFit/>
          </a:bodyPr>
          <a:lstStyle/>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As pay-back period in case of machine M is less than that in case of machine N, machine M is recommended.</a:t>
            </a:r>
          </a:p>
        </p:txBody>
      </p:sp>
      <p:sp>
        <p:nvSpPr>
          <p:cNvPr id="3" name="Slide Number Placeholder 2">
            <a:extLst>
              <a:ext uri="{FF2B5EF4-FFF2-40B4-BE49-F238E27FC236}">
                <a16:creationId xmlns:a16="http://schemas.microsoft.com/office/drawing/2014/main" id="{A527E4B2-3E56-A983-C5B4-842602169E16}"/>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661307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D69133-3177-D998-A137-0FE80A514987}"/>
              </a:ext>
            </a:extLst>
          </p:cNvPr>
          <p:cNvSpPr>
            <a:spLocks noGrp="1"/>
          </p:cNvSpPr>
          <p:nvPr>
            <p:ph type="title"/>
          </p:nvPr>
        </p:nvSpPr>
        <p:spPr>
          <a:xfrm>
            <a:off x="646111" y="452718"/>
            <a:ext cx="9404723" cy="798566"/>
          </a:xfrm>
        </p:spPr>
        <p:txBody>
          <a:bodyPr/>
          <a:lstStyle/>
          <a:p>
            <a:r>
              <a:rPr lang="en-IN" dirty="0"/>
              <a:t>Accounting Rate of Return</a:t>
            </a:r>
          </a:p>
        </p:txBody>
      </p:sp>
      <p:sp>
        <p:nvSpPr>
          <p:cNvPr id="5" name="Content Placeholder 4">
            <a:extLst>
              <a:ext uri="{FF2B5EF4-FFF2-40B4-BE49-F238E27FC236}">
                <a16:creationId xmlns:a16="http://schemas.microsoft.com/office/drawing/2014/main" id="{EE34F934-F07D-226D-EB6E-E51211155312}"/>
              </a:ext>
            </a:extLst>
          </p:cNvPr>
          <p:cNvSpPr>
            <a:spLocks noGrp="1"/>
          </p:cNvSpPr>
          <p:nvPr>
            <p:ph idx="1"/>
          </p:nvPr>
        </p:nvSpPr>
        <p:spPr>
          <a:xfrm>
            <a:off x="646111" y="1251284"/>
            <a:ext cx="11010083" cy="4997115"/>
          </a:xfrm>
        </p:spPr>
        <p:txBody>
          <a:bodyPr>
            <a:normAutofit fontScale="55000" lnSpcReduction="20000"/>
          </a:bodyPr>
          <a:lstStyle/>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Accounting Rate of Return (ARR) Method</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Accounting rate of return refers to the ratio of annual profits after taxes to the average investment. The Average investment equal to half of the original investment. Accounting rate of return is also called average rate of return.)</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ARR = </a:t>
            </a:r>
            <a:r>
              <a:rPr lang="en-IN" sz="2900" u="sng" kern="100" dirty="0">
                <a:effectLst/>
                <a:latin typeface="Times New Roman" panose="02020603050405020304" pitchFamily="18" charset="0"/>
                <a:ea typeface="Calibri" panose="020F0502020204030204" pitchFamily="34" charset="0"/>
                <a:cs typeface="Times New Roman" panose="02020603050405020304" pitchFamily="18" charset="0"/>
              </a:rPr>
              <a:t> Average annual profits after taxes</a:t>
            </a: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45720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Average investment</a:t>
            </a:r>
          </a:p>
          <a:p>
            <a:pPr marL="457200" indent="0">
              <a:lnSpc>
                <a:spcPct val="107000"/>
              </a:lnSpc>
              <a:spcBef>
                <a:spcPts val="0"/>
              </a:spcBef>
              <a:buNone/>
            </a:pPr>
            <a:endParaRPr lang="en-IN" sz="29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indent="0">
              <a:lnSpc>
                <a:spcPct val="107000"/>
              </a:lnSpc>
              <a:spcBef>
                <a:spcPts val="0"/>
              </a:spcBef>
              <a:buNone/>
            </a:pPr>
            <a:r>
              <a:rPr lang="en-US" sz="2900" kern="100" dirty="0">
                <a:effectLst/>
                <a:latin typeface="Times New Roman" panose="02020603050405020304" pitchFamily="18" charset="0"/>
                <a:ea typeface="Calibri" panose="020F0502020204030204" pitchFamily="34" charset="0"/>
                <a:cs typeface="Times New Roman" panose="02020603050405020304" pitchFamily="18" charset="0"/>
              </a:rPr>
              <a:t>Average annual profit= </a:t>
            </a:r>
            <a:r>
              <a:rPr lang="en-US" sz="2900" u="sng" kern="100" dirty="0">
                <a:effectLst/>
                <a:latin typeface="Times New Roman" panose="02020603050405020304" pitchFamily="18" charset="0"/>
                <a:ea typeface="Calibri" panose="020F0502020204030204" pitchFamily="34" charset="0"/>
                <a:cs typeface="Times New Roman" panose="02020603050405020304" pitchFamily="18" charset="0"/>
              </a:rPr>
              <a:t>Total inflows</a:t>
            </a:r>
          </a:p>
          <a:p>
            <a:pPr marL="457200" indent="0">
              <a:lnSpc>
                <a:spcPct val="107000"/>
              </a:lnSpc>
              <a:spcBef>
                <a:spcPts val="0"/>
              </a:spcBef>
              <a:buNone/>
            </a:pPr>
            <a:r>
              <a:rPr lang="en-US" sz="2900" kern="100" dirty="0">
                <a:effectLst/>
                <a:latin typeface="Times New Roman" panose="02020603050405020304" pitchFamily="18" charset="0"/>
                <a:ea typeface="Calibri" panose="020F0502020204030204" pitchFamily="34" charset="0"/>
                <a:cs typeface="Times New Roman" panose="02020603050405020304" pitchFamily="18" charset="0"/>
              </a:rPr>
              <a:t>				  Project life</a:t>
            </a:r>
          </a:p>
          <a:p>
            <a:pPr marL="457200" indent="0">
              <a:lnSpc>
                <a:spcPct val="107000"/>
              </a:lnSpc>
              <a:spcBef>
                <a:spcPts val="0"/>
              </a:spcBef>
              <a:buNone/>
            </a:pPr>
            <a:r>
              <a:rPr lang="en-US" sz="29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457200" indent="0">
              <a:lnSpc>
                <a:spcPct val="107000"/>
              </a:lnSpc>
              <a:spcBef>
                <a:spcPts val="0"/>
              </a:spcBef>
              <a:buNone/>
            </a:pPr>
            <a:r>
              <a:rPr lang="en-US" sz="29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9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Where average investment is half of the capital outlay (that is, Capital outlay divided by 2). Average capital employed is calculated to the usual accounting convention that the original investment gets exhausted steadily to zero over the life of the project.</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It is assumed that the asset is depreciated as per straight line method. Usually it is expressed in terms of percentage. The higher the ARR is, the better is the profitability and hence the projects with higher accounting rate of return are short-listed for implementation.</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marL="0" indent="0">
              <a:lnSpc>
                <a:spcPct val="107000"/>
              </a:lnSpc>
              <a:spcBef>
                <a:spcPts val="0"/>
              </a:spcBef>
              <a:buNone/>
            </a:pPr>
            <a:r>
              <a:rPr lang="en-IN" sz="2900" kern="100" dirty="0">
                <a:effectLst/>
                <a:latin typeface="Times New Roman" panose="02020603050405020304" pitchFamily="18" charset="0"/>
                <a:ea typeface="Calibri" panose="020F0502020204030204" pitchFamily="34" charset="0"/>
                <a:cs typeface="Times New Roman" panose="02020603050405020304" pitchFamily="18" charset="0"/>
              </a:rPr>
              <a:t>At times, ARR is determined considering the original cost of the project as the denominator.</a:t>
            </a:r>
          </a:p>
          <a:p>
            <a:endParaRPr lang="en-IN" dirty="0"/>
          </a:p>
        </p:txBody>
      </p:sp>
      <p:sp>
        <p:nvSpPr>
          <p:cNvPr id="2" name="Slide Number Placeholder 1">
            <a:extLst>
              <a:ext uri="{FF2B5EF4-FFF2-40B4-BE49-F238E27FC236}">
                <a16:creationId xmlns:a16="http://schemas.microsoft.com/office/drawing/2014/main" id="{3434AD62-AD67-9C0A-76EA-2F1F538D2C1F}"/>
              </a:ext>
            </a:extLst>
          </p:cNvPr>
          <p:cNvSpPr>
            <a:spLocks noGrp="1"/>
          </p:cNvSpPr>
          <p:nvPr>
            <p:ph type="sldNum" sz="quarter" idx="12"/>
          </p:nvPr>
        </p:nvSpPr>
        <p:spPr/>
        <p:txBody>
          <a:bodyPr/>
          <a:lstStyle/>
          <a:p>
            <a:fld id="{519954A3-9DFD-4C44-94BA-B95130A3BA1C}" type="slidenum">
              <a:rPr lang="en-US" smtClean="0"/>
              <a:pPr/>
              <a:t>22</a:t>
            </a:fld>
            <a:endParaRPr lang="en-US" dirty="0"/>
          </a:p>
        </p:txBody>
      </p:sp>
    </p:spTree>
    <p:extLst>
      <p:ext uri="{BB962C8B-B14F-4D97-AF65-F5344CB8AC3E}">
        <p14:creationId xmlns:p14="http://schemas.microsoft.com/office/powerpoint/2010/main" val="8686390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CD939-EFE4-9245-6C29-185BED4B578D}"/>
              </a:ext>
            </a:extLst>
          </p:cNvPr>
          <p:cNvSpPr>
            <a:spLocks noGrp="1"/>
          </p:cNvSpPr>
          <p:nvPr>
            <p:ph type="title"/>
          </p:nvPr>
        </p:nvSpPr>
        <p:spPr/>
        <p:txBody>
          <a:bodyPr/>
          <a:lstStyle/>
          <a:p>
            <a:r>
              <a:rPr lang="en-IN" dirty="0"/>
              <a:t>ARR</a:t>
            </a:r>
          </a:p>
        </p:txBody>
      </p:sp>
      <p:sp>
        <p:nvSpPr>
          <p:cNvPr id="3" name="Content Placeholder 2">
            <a:extLst>
              <a:ext uri="{FF2B5EF4-FFF2-40B4-BE49-F238E27FC236}">
                <a16:creationId xmlns:a16="http://schemas.microsoft.com/office/drawing/2014/main" id="{9762DAD3-6B86-30F8-167D-E38ADDA0B9B6}"/>
              </a:ext>
            </a:extLst>
          </p:cNvPr>
          <p:cNvSpPr>
            <a:spLocks noGrp="1"/>
          </p:cNvSpPr>
          <p:nvPr>
            <p:ph idx="1"/>
          </p:nvPr>
        </p:nvSpPr>
        <p:spPr>
          <a:xfrm>
            <a:off x="646112" y="1097280"/>
            <a:ext cx="10653948" cy="5151119"/>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ARR can be calculated in two ways</a:t>
            </a:r>
          </a:p>
          <a:p>
            <a:pPr marL="0" indent="0">
              <a:buNone/>
            </a:pPr>
            <a:r>
              <a:rPr lang="en-IN" sz="2400" dirty="0">
                <a:latin typeface="Times New Roman" panose="02020603050405020304" pitchFamily="18" charset="0"/>
                <a:cs typeface="Times New Roman" panose="02020603050405020304" pitchFamily="18" charset="0"/>
              </a:rPr>
              <a:t>1)ARR on Average Capital=    </a:t>
            </a:r>
            <a:r>
              <a:rPr lang="en-IN" sz="2400" u="sng" dirty="0">
                <a:latin typeface="Times New Roman" panose="02020603050405020304" pitchFamily="18" charset="0"/>
                <a:cs typeface="Times New Roman" panose="02020603050405020304" pitchFamily="18" charset="0"/>
              </a:rPr>
              <a:t>Average Annual Profits after taxes </a:t>
            </a:r>
            <a:r>
              <a:rPr lang="en-IN" sz="2400" dirty="0">
                <a:latin typeface="Times New Roman" panose="02020603050405020304" pitchFamily="18" charset="0"/>
                <a:cs typeface="Times New Roman" panose="02020603050405020304" pitchFamily="18" charset="0"/>
              </a:rPr>
              <a:t>*100</a:t>
            </a:r>
            <a:r>
              <a:rPr lang="en-IN" sz="2400" u="sng" dirty="0">
                <a:latin typeface="Times New Roman" panose="02020603050405020304" pitchFamily="18" charset="0"/>
                <a:cs typeface="Times New Roman" panose="02020603050405020304" pitchFamily="18" charset="0"/>
              </a:rPr>
              <a:t> </a:t>
            </a:r>
          </a:p>
          <a:p>
            <a:pPr marL="3657600" lvl="8" indent="0">
              <a:buNone/>
            </a:pPr>
            <a:r>
              <a:rPr lang="en-IN" sz="2400" dirty="0">
                <a:latin typeface="Times New Roman" panose="02020603050405020304" pitchFamily="18" charset="0"/>
                <a:cs typeface="Times New Roman" panose="02020603050405020304" pitchFamily="18" charset="0"/>
              </a:rPr>
              <a:t>                  Average investment</a:t>
            </a:r>
          </a:p>
          <a:p>
            <a:pPr marL="0" indent="0">
              <a:buNone/>
            </a:pPr>
            <a:r>
              <a:rPr kumimoji="0" lang="en-IN" sz="2000" b="0" i="0" u="none" strike="noStrike" kern="1200" cap="none" spc="0" normalizeH="0" baseline="0" noProof="0" dirty="0">
                <a:ln>
                  <a:noFill/>
                </a:ln>
                <a:solidFill>
                  <a:prstClr val="white"/>
                </a:solidFill>
                <a:effectLst/>
                <a:uLnTx/>
                <a:uFillTx/>
                <a:latin typeface="Times New Roman" panose="02020603050405020304" pitchFamily="18" charset="0"/>
                <a:ea typeface="+mj-ea"/>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2)ARR on Original Capital=    </a:t>
            </a:r>
            <a:r>
              <a:rPr lang="en-IN" sz="2400" u="sng" dirty="0">
                <a:latin typeface="Times New Roman" panose="02020603050405020304" pitchFamily="18" charset="0"/>
                <a:cs typeface="Times New Roman" panose="02020603050405020304" pitchFamily="18" charset="0"/>
              </a:rPr>
              <a:t>Average Annual Profits </a:t>
            </a:r>
            <a:r>
              <a:rPr lang="en-IN" sz="2400" u="sng">
                <a:latin typeface="Times New Roman" panose="02020603050405020304" pitchFamily="18" charset="0"/>
                <a:cs typeface="Times New Roman" panose="02020603050405020304" pitchFamily="18" charset="0"/>
              </a:rPr>
              <a:t>after taxes</a:t>
            </a:r>
            <a:r>
              <a:rPr lang="en-IN" sz="2400">
                <a:latin typeface="Times New Roman" panose="02020603050405020304" pitchFamily="18" charset="0"/>
                <a:cs typeface="Times New Roman" panose="02020603050405020304" pitchFamily="18" charset="0"/>
              </a:rPr>
              <a:t> *100</a:t>
            </a:r>
            <a:endParaRPr lang="en-IN" sz="2400" u="sng" dirty="0">
              <a:latin typeface="Times New Roman" panose="02020603050405020304" pitchFamily="18" charset="0"/>
              <a:cs typeface="Times New Roman" panose="02020603050405020304" pitchFamily="18" charset="0"/>
            </a:endParaRPr>
          </a:p>
          <a:p>
            <a:pPr marL="3657600" lvl="8" indent="0">
              <a:buNone/>
            </a:pPr>
            <a:r>
              <a:rPr lang="en-IN" sz="2400" dirty="0">
                <a:latin typeface="Times New Roman" panose="02020603050405020304" pitchFamily="18" charset="0"/>
                <a:cs typeface="Times New Roman" panose="02020603050405020304" pitchFamily="18" charset="0"/>
              </a:rPr>
              <a:t>                  Original investment</a:t>
            </a:r>
          </a:p>
          <a:p>
            <a:pPr marL="0" indent="0">
              <a:lnSpc>
                <a:spcPct val="107000"/>
              </a:lnSpc>
              <a:buNone/>
            </a:pP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If There is Working Capital and Scrap, ARR  is calculated :</a:t>
            </a:r>
          </a:p>
          <a:p>
            <a:pPr marL="0" indent="0">
              <a:lnSpc>
                <a:spcPct val="107000"/>
              </a:lnSpc>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 Where there is scrap resulting from the sale of the old asset and there is working capital, these two are added to the average investment. These are shown in the following formula.</a:t>
            </a:r>
          </a:p>
          <a:p>
            <a:pPr marL="0" indent="0">
              <a:lnSpc>
                <a:spcPct val="107000"/>
              </a:lnSpc>
              <a:buNone/>
            </a:pPr>
            <a:r>
              <a:rPr lang="en-IN" kern="100" dirty="0">
                <a:effectLst/>
                <a:latin typeface="Calibri" panose="020F0502020204030204" pitchFamily="34" charset="0"/>
                <a:ea typeface="Calibri" panose="020F0502020204030204" pitchFamily="34" charset="0"/>
                <a:cs typeface="Times New Roman" panose="02020603050405020304" pitchFamily="18" charset="0"/>
              </a:rPr>
              <a:t>Average investment= (Cost-Scrap)/2 + Scrap of old asset + Working capital</a:t>
            </a:r>
          </a:p>
          <a:p>
            <a:pPr marL="3657600" lvl="8" indent="0">
              <a:buNone/>
            </a:pPr>
            <a:endParaRPr lang="en-IN" sz="2000" dirty="0">
              <a:latin typeface="Times New Roman" panose="02020603050405020304" pitchFamily="18" charset="0"/>
              <a:cs typeface="Times New Roman" panose="02020603050405020304" pitchFamily="18" charset="0"/>
            </a:endParaRPr>
          </a:p>
          <a:p>
            <a:endParaRPr kumimoji="0" lang="en-IN" sz="2000" b="0" i="0" u="none" strike="noStrike" kern="1200" cap="none" spc="0" normalizeH="0" baseline="0" noProof="0" dirty="0">
              <a:ln>
                <a:noFill/>
              </a:ln>
              <a:solidFill>
                <a:prstClr val="white"/>
              </a:solidFill>
              <a:effectLst/>
              <a:uLnTx/>
              <a:uFillTx/>
              <a:latin typeface="Times New Roman" panose="02020603050405020304" pitchFamily="18" charset="0"/>
              <a:ea typeface="+mj-ea"/>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5235DD03-3A30-47CC-0690-ED99BDD4860B}"/>
              </a:ext>
            </a:extLst>
          </p:cNvPr>
          <p:cNvSpPr>
            <a:spLocks noGrp="1"/>
          </p:cNvSpPr>
          <p:nvPr>
            <p:ph type="sldNum" sz="quarter" idx="12"/>
          </p:nvPr>
        </p:nvSpPr>
        <p:spPr/>
        <p:txBody>
          <a:bodyPr/>
          <a:lstStyle/>
          <a:p>
            <a:fld id="{519954A3-9DFD-4C44-94BA-B95130A3BA1C}" type="slidenum">
              <a:rPr lang="en-US" smtClean="0"/>
              <a:pPr/>
              <a:t>23</a:t>
            </a:fld>
            <a:endParaRPr lang="en-US" dirty="0"/>
          </a:p>
        </p:txBody>
      </p:sp>
    </p:spTree>
    <p:extLst>
      <p:ext uri="{BB962C8B-B14F-4D97-AF65-F5344CB8AC3E}">
        <p14:creationId xmlns:p14="http://schemas.microsoft.com/office/powerpoint/2010/main" val="8441400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694" y="91440"/>
            <a:ext cx="8596668" cy="640080"/>
          </a:xfrm>
        </p:spPr>
        <p:txBody>
          <a:bodyPr>
            <a:normAutofit fontScale="90000"/>
          </a:bodyPr>
          <a:lstStyle/>
          <a:p>
            <a:r>
              <a:rPr lang="en-US" b="1" dirty="0">
                <a:ea typeface="+mj-lt"/>
                <a:cs typeface="+mj-lt"/>
              </a:rPr>
              <a:t>Traditional Methods-</a:t>
            </a:r>
            <a:r>
              <a:rPr lang="en-US" b="1" dirty="0"/>
              <a:t>ARR Method</a:t>
            </a:r>
            <a:br>
              <a:rPr lang="en-US" b="1" dirty="0"/>
            </a:br>
            <a:br>
              <a:rPr lang="en-US" b="1" dirty="0">
                <a:ea typeface="+mj-lt"/>
                <a:cs typeface="+mj-lt"/>
              </a:rPr>
            </a:br>
            <a:endParaRPr lang="en-IN" dirty="0"/>
          </a:p>
        </p:txBody>
      </p:sp>
      <p:sp>
        <p:nvSpPr>
          <p:cNvPr id="3" name="Content Placeholder 2"/>
          <p:cNvSpPr>
            <a:spLocks noGrp="1"/>
          </p:cNvSpPr>
          <p:nvPr>
            <p:ph idx="1"/>
          </p:nvPr>
        </p:nvSpPr>
        <p:spPr>
          <a:xfrm>
            <a:off x="504614" y="1181226"/>
            <a:ext cx="4514426" cy="5361814"/>
          </a:xfrm>
        </p:spPr>
        <p:txBody>
          <a:bodyPr>
            <a:normAutofit fontScale="92500" lnSpcReduction="20000"/>
          </a:bodyPr>
          <a:lstStyle/>
          <a:p>
            <a:pPr marL="0" indent="0">
              <a:buNone/>
            </a:pPr>
            <a:r>
              <a:rPr lang="en-US" sz="2600" b="1" dirty="0"/>
              <a:t>Advantages </a:t>
            </a:r>
          </a:p>
          <a:p>
            <a:pPr marL="0" indent="0" algn="just">
              <a:buNone/>
            </a:pPr>
            <a:r>
              <a:rPr lang="en-US" sz="2600" dirty="0"/>
              <a:t>1) It is easy to understand and calculate.</a:t>
            </a:r>
          </a:p>
          <a:p>
            <a:pPr marL="0" indent="0" algn="just">
              <a:buNone/>
            </a:pPr>
            <a:r>
              <a:rPr lang="en-US" sz="2600" dirty="0"/>
              <a:t> 2) It can be compared with the cutoff point of return and hence the decision to accept or reject is made easier. </a:t>
            </a:r>
          </a:p>
          <a:p>
            <a:pPr marL="0" indent="0" algn="just">
              <a:buNone/>
            </a:pPr>
            <a:r>
              <a:rPr lang="en-US" sz="2600" dirty="0"/>
              <a:t>3) It considers all the cash inflows during the life of the projects, not like payback method. </a:t>
            </a:r>
          </a:p>
          <a:p>
            <a:pPr marL="0" indent="0" algn="just">
              <a:buNone/>
            </a:pPr>
            <a:r>
              <a:rPr lang="en-US" sz="2600" dirty="0"/>
              <a:t>4) It is a reliable measure because it considers net earnings after depreciation interest and taxes</a:t>
            </a:r>
            <a:r>
              <a:rPr lang="en-US" sz="1900" dirty="0"/>
              <a:t>. </a:t>
            </a:r>
          </a:p>
        </p:txBody>
      </p:sp>
      <p:sp>
        <p:nvSpPr>
          <p:cNvPr id="6" name="TextBox 5"/>
          <p:cNvSpPr txBox="1"/>
          <p:nvPr/>
        </p:nvSpPr>
        <p:spPr>
          <a:xfrm>
            <a:off x="5750560" y="1181226"/>
            <a:ext cx="5171440" cy="4893647"/>
          </a:xfrm>
          <a:prstGeom prst="rect">
            <a:avLst/>
          </a:prstGeom>
          <a:noFill/>
        </p:spPr>
        <p:txBody>
          <a:bodyPr wrap="square" rtlCol="0">
            <a:spAutoFit/>
          </a:bodyPr>
          <a:lstStyle/>
          <a:p>
            <a:r>
              <a:rPr lang="en-US" sz="2400" b="1" dirty="0"/>
              <a:t>Disadvantages </a:t>
            </a:r>
          </a:p>
          <a:p>
            <a:pPr marL="342900" indent="-342900" algn="just">
              <a:buAutoNum type="arabicPeriod"/>
            </a:pPr>
            <a:r>
              <a:rPr lang="en-US" sz="2400" dirty="0"/>
              <a:t>The concept of time value of money is ignored.</a:t>
            </a:r>
          </a:p>
          <a:p>
            <a:pPr marL="342900" indent="-342900" algn="just">
              <a:buAutoNum type="arabicPeriod"/>
            </a:pPr>
            <a:r>
              <a:rPr lang="en-US" sz="2400" dirty="0"/>
              <a:t>Unless we have a cutoff point of return, accounting rat of return cannot be meaningful and effective.</a:t>
            </a:r>
          </a:p>
          <a:p>
            <a:pPr marL="342900" indent="-342900" algn="just">
              <a:buAutoNum type="arabicPeriod"/>
            </a:pPr>
            <a:r>
              <a:rPr lang="en-US" sz="2400" dirty="0"/>
              <a:t>The average concept is not reliable particularly in terms of high or wild fluctuations in the returns.</a:t>
            </a:r>
          </a:p>
          <a:p>
            <a:pPr marL="342900" indent="-342900" algn="just">
              <a:buAutoNum type="arabicPeriod"/>
            </a:pPr>
            <a:r>
              <a:rPr lang="en-US" sz="2400" dirty="0"/>
              <a:t> The average concept dilutes the profitability of the project</a:t>
            </a:r>
            <a:r>
              <a:rPr lang="en-US" dirty="0"/>
              <a:t>.</a:t>
            </a:r>
            <a:endParaRPr lang="en-IN" dirty="0"/>
          </a:p>
        </p:txBody>
      </p:sp>
    </p:spTree>
    <p:extLst>
      <p:ext uri="{BB962C8B-B14F-4D97-AF65-F5344CB8AC3E}">
        <p14:creationId xmlns:p14="http://schemas.microsoft.com/office/powerpoint/2010/main" val="2607404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946442-2245-0870-B483-83167B358950}"/>
              </a:ext>
            </a:extLst>
          </p:cNvPr>
          <p:cNvSpPr txBox="1"/>
          <p:nvPr/>
        </p:nvSpPr>
        <p:spPr>
          <a:xfrm>
            <a:off x="779646" y="282681"/>
            <a:ext cx="8337884" cy="1200329"/>
          </a:xfrm>
          <a:prstGeom prst="rect">
            <a:avLst/>
          </a:prstGeom>
          <a:noFill/>
        </p:spPr>
        <p:txBody>
          <a:bodyPr wrap="square">
            <a:spAutoFit/>
          </a:bodyPr>
          <a:lstStyle/>
          <a:p>
            <a:r>
              <a:rPr lang="en-US" dirty="0"/>
              <a:t>X Ltd. is considering the purchase of a machine. Two machines are available E and F. The cost of each machine is Rs 60,000. Each machine has an expected life of 5 years. Net Profits before tax and after depreciation during the expected life of the machines are given below:</a:t>
            </a:r>
            <a:endParaRPr lang="en-IN" dirty="0"/>
          </a:p>
        </p:txBody>
      </p:sp>
      <p:pic>
        <p:nvPicPr>
          <p:cNvPr id="6" name="Picture 5">
            <a:extLst>
              <a:ext uri="{FF2B5EF4-FFF2-40B4-BE49-F238E27FC236}">
                <a16:creationId xmlns:a16="http://schemas.microsoft.com/office/drawing/2014/main" id="{F1E878E2-020D-C045-60FF-91F033ABB10F}"/>
              </a:ext>
            </a:extLst>
          </p:cNvPr>
          <p:cNvPicPr>
            <a:picLocks noChangeAspect="1"/>
          </p:cNvPicPr>
          <p:nvPr/>
        </p:nvPicPr>
        <p:blipFill>
          <a:blip r:embed="rId2"/>
          <a:stretch>
            <a:fillRect/>
          </a:stretch>
        </p:blipFill>
        <p:spPr>
          <a:xfrm>
            <a:off x="885524" y="1782725"/>
            <a:ext cx="10250905" cy="4704702"/>
          </a:xfrm>
          <a:prstGeom prst="rect">
            <a:avLst/>
          </a:prstGeom>
        </p:spPr>
      </p:pic>
      <p:sp>
        <p:nvSpPr>
          <p:cNvPr id="2" name="Slide Number Placeholder 1">
            <a:extLst>
              <a:ext uri="{FF2B5EF4-FFF2-40B4-BE49-F238E27FC236}">
                <a16:creationId xmlns:a16="http://schemas.microsoft.com/office/drawing/2014/main" id="{96BFEA49-2D88-25BB-27AB-2DC7BA212F40}"/>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9415488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27E9C6-BF6A-0DE1-5F11-45732E74E691}"/>
              </a:ext>
            </a:extLst>
          </p:cNvPr>
          <p:cNvSpPr txBox="1"/>
          <p:nvPr/>
        </p:nvSpPr>
        <p:spPr>
          <a:xfrm>
            <a:off x="633662" y="640173"/>
            <a:ext cx="10924675" cy="5078313"/>
          </a:xfrm>
          <a:prstGeom prst="rect">
            <a:avLst/>
          </a:prstGeom>
          <a:noFill/>
        </p:spPr>
        <p:txBody>
          <a:bodyPr wrap="square">
            <a:spAutoFit/>
          </a:bodyPr>
          <a:lstStyle/>
          <a:p>
            <a:pPr marL="457200" indent="-457200"/>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Find out the Average rate of return from the following data relating to CNC Machines 1 and 2.</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Cost							Rs 300,000 each</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Estimated life						3 years  and for CNC Machine 1 and 4 years for CNC Machine 2</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Estimated scrap					60,000 each</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Income tax rate					50%</a:t>
            </a:r>
          </a:p>
          <a:p>
            <a:pPr marL="457200" indent="-457200"/>
            <a:r>
              <a:rPr lang="en-IN" kern="100" dirty="0">
                <a:latin typeface="Calibri" panose="020F0502020204030204" pitchFamily="34" charset="0"/>
                <a:ea typeface="Calibri" panose="020F0502020204030204" pitchFamily="34" charset="0"/>
                <a:cs typeface="Times New Roman" panose="02020603050405020304" pitchFamily="18" charset="0"/>
              </a:rPr>
              <a:t>Additional Working Capital required for each Machine=Rs.250000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estimated cash inflows after taxes for each machine are as given below:</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Year            CNC Machine 1 Rs		CNC Machine 2 Rs</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1	 	1,50,000		                  2,00,000</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2		3,00,000				3,00,000</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3		1,50,000				2,50,000</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4	   	  -					1,50,000</a:t>
            </a:r>
          </a:p>
          <a:p>
            <a:pPr marL="457200" indent="-457200"/>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Total	6,00,000	    		         9,00,000</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DF57E4AB-829B-E38F-E08A-6B11FC7429E2}"/>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1539181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18D547-728C-E790-A158-8DBD66FCEF31}"/>
              </a:ext>
            </a:extLst>
          </p:cNvPr>
          <p:cNvSpPr txBox="1"/>
          <p:nvPr/>
        </p:nvSpPr>
        <p:spPr>
          <a:xfrm>
            <a:off x="510139" y="711251"/>
            <a:ext cx="10865432" cy="5117363"/>
          </a:xfrm>
          <a:prstGeom prst="rect">
            <a:avLst/>
          </a:prstGeom>
          <a:noFill/>
        </p:spPr>
        <p:txBody>
          <a:bodyPr wrap="square">
            <a:spAutoFit/>
          </a:bodyPr>
          <a:lstStyle/>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Solution</a:t>
            </a:r>
          </a:p>
          <a:p>
            <a:pPr marL="457200" indent="-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average cash inflows after taxes for CNC Machine 1 = Rs 2,00,000 that is, ( 6,00,000/3)</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average cash inflows after taxes for CNC Machine 2=Rs 2,25,000 that is, ( 9,00,000/4)</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Average Capital= (Cost-Scrap)/ 2 +working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capital+Scrap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(3,00,000 – 60,000)/2 + 2 ,50,000+60,000 = 1,20,000+250,000+60,000 = Rs 4,30,000</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ARR for Machine 1 = </a:t>
            </a:r>
            <a:r>
              <a:rPr lang="en-IN" sz="1800" u="sng" kern="100" dirty="0">
                <a:effectLst/>
                <a:latin typeface="Calibri" panose="020F0502020204030204" pitchFamily="34" charset="0"/>
                <a:ea typeface="Calibri" panose="020F0502020204030204" pitchFamily="34" charset="0"/>
                <a:cs typeface="Times New Roman" panose="02020603050405020304" pitchFamily="18" charset="0"/>
              </a:rPr>
              <a:t>Average annual profits after taxes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Average investment </a:t>
            </a:r>
          </a:p>
          <a:p>
            <a:pPr marL="9144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(2,00,000)/(4,30,000) = 46.5% </a:t>
            </a:r>
          </a:p>
          <a:p>
            <a:pPr marL="9144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ARR for Machine 2 =(2,25,000) /(4,30,000) = 52.32%</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indent="-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Based on the accounting rate of return, the machine 2 is profitable.</a:t>
            </a:r>
          </a:p>
          <a:p>
            <a:pPr marL="457200" indent="-457200">
              <a:lnSpc>
                <a:spcPct val="107000"/>
              </a:lnSpc>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D548B7FB-9FB9-8432-9C31-91938F81730E}"/>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23244896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53440"/>
          </a:xfrm>
        </p:spPr>
        <p:txBody>
          <a:bodyPr/>
          <a:lstStyle/>
          <a:p>
            <a:r>
              <a:rPr lang="en-US" b="1" dirty="0"/>
              <a:t>Discounted Cash Flow Methods</a:t>
            </a:r>
            <a:endParaRPr lang="en-IN" b="1" dirty="0"/>
          </a:p>
        </p:txBody>
      </p:sp>
      <p:sp>
        <p:nvSpPr>
          <p:cNvPr id="3" name="Content Placeholder 2"/>
          <p:cNvSpPr>
            <a:spLocks noGrp="1"/>
          </p:cNvSpPr>
          <p:nvPr>
            <p:ph idx="1"/>
          </p:nvPr>
        </p:nvSpPr>
        <p:spPr>
          <a:xfrm>
            <a:off x="677334" y="1554481"/>
            <a:ext cx="8596668" cy="4578322"/>
          </a:xfrm>
        </p:spPr>
        <p:txBody>
          <a:bodyPr/>
          <a:lstStyle/>
          <a:p>
            <a:pPr marL="0" indent="0" algn="just">
              <a:buNone/>
            </a:pPr>
            <a:r>
              <a:rPr lang="en-US" sz="2400" dirty="0"/>
              <a:t>Discounted cash flows are the future cash inflows reduced to their present value based on a discounting factor. The process of reducing the future cash inflows to their present value based on a discounting factor or cut-off return is called </a:t>
            </a:r>
            <a:r>
              <a:rPr lang="en-IN" sz="2400" dirty="0"/>
              <a:t>discounting.</a:t>
            </a:r>
            <a:endParaRPr lang="en-US" sz="2400" dirty="0"/>
          </a:p>
          <a:p>
            <a:pPr algn="just">
              <a:lnSpc>
                <a:spcPct val="150000"/>
              </a:lnSpc>
            </a:pPr>
            <a:r>
              <a:rPr lang="en-US" sz="2400" dirty="0"/>
              <a:t>Net Present Value (NPV)</a:t>
            </a:r>
          </a:p>
          <a:p>
            <a:pPr algn="just">
              <a:lnSpc>
                <a:spcPct val="150000"/>
              </a:lnSpc>
            </a:pPr>
            <a:r>
              <a:rPr lang="en-US" sz="2400" dirty="0"/>
              <a:t>Profitability Index (PI) </a:t>
            </a:r>
          </a:p>
          <a:p>
            <a:pPr algn="just">
              <a:lnSpc>
                <a:spcPct val="150000"/>
              </a:lnSpc>
            </a:pPr>
            <a:r>
              <a:rPr lang="en-US" sz="2400" dirty="0"/>
              <a:t> Internal Rate of Return (IRR)</a:t>
            </a:r>
          </a:p>
          <a:p>
            <a:pPr algn="just">
              <a:lnSpc>
                <a:spcPct val="150000"/>
              </a:lnSpc>
            </a:pPr>
            <a:endParaRPr lang="en-US" sz="2400" dirty="0"/>
          </a:p>
          <a:p>
            <a:pPr marL="0" indent="0">
              <a:buNone/>
            </a:pPr>
            <a:endParaRPr lang="en-IN" dirty="0"/>
          </a:p>
        </p:txBody>
      </p:sp>
    </p:spTree>
    <p:extLst>
      <p:ext uri="{BB962C8B-B14F-4D97-AF65-F5344CB8AC3E}">
        <p14:creationId xmlns:p14="http://schemas.microsoft.com/office/powerpoint/2010/main" val="17224920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56640"/>
          </a:xfrm>
        </p:spPr>
        <p:txBody>
          <a:bodyPr>
            <a:normAutofit fontScale="90000"/>
          </a:bodyPr>
          <a:lstStyle/>
          <a:p>
            <a:r>
              <a:rPr lang="en-US" dirty="0"/>
              <a:t>Net Present Value (NPV)</a:t>
            </a:r>
            <a:br>
              <a:rPr lang="en-US" dirty="0"/>
            </a:br>
            <a:endParaRPr lang="en-IN" dirty="0"/>
          </a:p>
        </p:txBody>
      </p:sp>
      <p:sp>
        <p:nvSpPr>
          <p:cNvPr id="3" name="Content Placeholder 2"/>
          <p:cNvSpPr>
            <a:spLocks noGrp="1"/>
          </p:cNvSpPr>
          <p:nvPr>
            <p:ph idx="1"/>
          </p:nvPr>
        </p:nvSpPr>
        <p:spPr>
          <a:xfrm>
            <a:off x="677334" y="1666241"/>
            <a:ext cx="9960186" cy="4375122"/>
          </a:xfrm>
        </p:spPr>
        <p:txBody>
          <a:bodyPr>
            <a:normAutofit/>
          </a:bodyPr>
          <a:lstStyle/>
          <a:p>
            <a:r>
              <a:rPr lang="en-IN" sz="2400" dirty="0"/>
              <a:t>Net present value refers to the excess of present value of future cash inflows over and above the cost of original investment. </a:t>
            </a:r>
          </a:p>
          <a:p>
            <a:r>
              <a:rPr lang="en-IN" sz="2400" dirty="0"/>
              <a:t>NPV=</a:t>
            </a:r>
            <a:r>
              <a:rPr lang="en-IN" sz="2400" dirty="0" err="1"/>
              <a:t>PVcFAT</a:t>
            </a:r>
            <a:r>
              <a:rPr lang="en-IN" sz="2400" dirty="0"/>
              <a:t> - (</a:t>
            </a:r>
            <a:r>
              <a:rPr lang="en-IN" sz="2400" dirty="0" err="1"/>
              <a:t>PVc</a:t>
            </a:r>
            <a:r>
              <a:rPr lang="en-IN" sz="2400" dirty="0"/>
              <a:t>) </a:t>
            </a:r>
          </a:p>
          <a:p>
            <a:pPr marL="0" indent="0">
              <a:buNone/>
            </a:pPr>
            <a:r>
              <a:rPr lang="en-IN" sz="2400" dirty="0"/>
              <a:t>Where  </a:t>
            </a:r>
          </a:p>
          <a:p>
            <a:r>
              <a:rPr lang="en-IN" sz="2400" dirty="0" err="1"/>
              <a:t>PVcFAT</a:t>
            </a:r>
            <a:r>
              <a:rPr lang="en-IN" sz="2400" dirty="0"/>
              <a:t> refers to the present value of cash flows after taxes. </a:t>
            </a:r>
          </a:p>
          <a:p>
            <a:r>
              <a:rPr lang="en-IN" sz="2400" dirty="0" err="1"/>
              <a:t>PVc</a:t>
            </a:r>
            <a:r>
              <a:rPr lang="en-IN" sz="2400" dirty="0"/>
              <a:t> refers to the present value of original investment or capital </a:t>
            </a:r>
          </a:p>
          <a:p>
            <a:pPr algn="just"/>
            <a:r>
              <a:rPr lang="en-IN" sz="2400" dirty="0"/>
              <a:t>The NPV should always be positive and should be maximum. The present value factor tables are used here to determine the present value of the future cash inflows. </a:t>
            </a:r>
          </a:p>
          <a:p>
            <a:endParaRPr lang="en-IN" sz="2400" dirty="0"/>
          </a:p>
          <a:p>
            <a:endParaRPr lang="en-IN" dirty="0"/>
          </a:p>
        </p:txBody>
      </p:sp>
    </p:spTree>
    <p:extLst>
      <p:ext uri="{BB962C8B-B14F-4D97-AF65-F5344CB8AC3E}">
        <p14:creationId xmlns:p14="http://schemas.microsoft.com/office/powerpoint/2010/main" val="5478891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9760"/>
          </a:xfrm>
        </p:spPr>
        <p:txBody>
          <a:bodyPr>
            <a:normAutofit fontScale="90000"/>
          </a:bodyPr>
          <a:lstStyle/>
          <a:p>
            <a:r>
              <a:rPr lang="en-US" dirty="0"/>
              <a:t>NPV-Advantages</a:t>
            </a:r>
            <a:endParaRPr lang="en-IN" dirty="0"/>
          </a:p>
        </p:txBody>
      </p:sp>
      <p:sp>
        <p:nvSpPr>
          <p:cNvPr id="3" name="Content Placeholder 2"/>
          <p:cNvSpPr>
            <a:spLocks noGrp="1"/>
          </p:cNvSpPr>
          <p:nvPr>
            <p:ph idx="1"/>
          </p:nvPr>
        </p:nvSpPr>
        <p:spPr>
          <a:xfrm>
            <a:off x="677334" y="1229361"/>
            <a:ext cx="9462346" cy="4812002"/>
          </a:xfrm>
        </p:spPr>
        <p:txBody>
          <a:bodyPr>
            <a:normAutofit/>
          </a:bodyPr>
          <a:lstStyle/>
          <a:p>
            <a:pPr lvl="0" algn="just" fontAlgn="base"/>
            <a:r>
              <a:rPr lang="en-IN" sz="2400" dirty="0"/>
              <a:t>since the PV factor tables are available determination of NPV is relatively easier. It is easy to understand. </a:t>
            </a:r>
          </a:p>
          <a:p>
            <a:pPr lvl="0" algn="just" fontAlgn="base"/>
            <a:r>
              <a:rPr lang="en-IN" sz="2400" dirty="0"/>
              <a:t>The goal of the financial management is wealth maximization and this method enables the finance manager to pursue this goal. </a:t>
            </a:r>
          </a:p>
          <a:p>
            <a:pPr lvl="0" algn="just" fontAlgn="base"/>
            <a:r>
              <a:rPr lang="en-IN" sz="2400" dirty="0"/>
              <a:t>It is based on the concept of time value and considers the total earnings and expenses of the project. </a:t>
            </a:r>
          </a:p>
          <a:p>
            <a:pPr lvl="0" algn="just" fontAlgn="base"/>
            <a:r>
              <a:rPr lang="en-IN" sz="2400" dirty="0"/>
              <a:t>NPV is a superior technique to IRR in case of mutually exclusive proposals. </a:t>
            </a:r>
          </a:p>
          <a:p>
            <a:pPr lvl="0" algn="just" fontAlgn="base"/>
            <a:r>
              <a:rPr lang="en-IN" sz="2400" dirty="0"/>
              <a:t>Each project can individually be evaluated. </a:t>
            </a:r>
          </a:p>
          <a:p>
            <a:pPr algn="just"/>
            <a:endParaRPr lang="en-IN" sz="2400" dirty="0"/>
          </a:p>
        </p:txBody>
      </p:sp>
    </p:spTree>
    <p:extLst>
      <p:ext uri="{BB962C8B-B14F-4D97-AF65-F5344CB8AC3E}">
        <p14:creationId xmlns:p14="http://schemas.microsoft.com/office/powerpoint/2010/main" val="16119315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1360"/>
          </a:xfrm>
        </p:spPr>
        <p:txBody>
          <a:bodyPr/>
          <a:lstStyle/>
          <a:p>
            <a:r>
              <a:rPr lang="en-US" dirty="0"/>
              <a:t>NPV-Disadvantages</a:t>
            </a:r>
            <a:endParaRPr lang="en-IN" dirty="0"/>
          </a:p>
        </p:txBody>
      </p:sp>
      <p:sp>
        <p:nvSpPr>
          <p:cNvPr id="3" name="Content Placeholder 2"/>
          <p:cNvSpPr>
            <a:spLocks noGrp="1"/>
          </p:cNvSpPr>
          <p:nvPr>
            <p:ph idx="1"/>
          </p:nvPr>
        </p:nvSpPr>
        <p:spPr>
          <a:xfrm>
            <a:off x="677334" y="1574800"/>
            <a:ext cx="9208346" cy="4968239"/>
          </a:xfrm>
        </p:spPr>
        <p:txBody>
          <a:bodyPr>
            <a:noAutofit/>
          </a:bodyPr>
          <a:lstStyle/>
          <a:p>
            <a:pPr lvl="0" algn="just" fontAlgn="base"/>
            <a:r>
              <a:rPr lang="en-IN" sz="2800" dirty="0"/>
              <a:t>It is difficult to determine the appropriate discount rate. </a:t>
            </a:r>
          </a:p>
          <a:p>
            <a:pPr lvl="0" algn="just" fontAlgn="base"/>
            <a:r>
              <a:rPr lang="en-IN" sz="2800" dirty="0"/>
              <a:t>The calculations are easier when compared to IRR, but is beyond the comprehension of a common businessman </a:t>
            </a:r>
          </a:p>
          <a:p>
            <a:pPr lvl="0" algn="just" fontAlgn="base"/>
            <a:r>
              <a:rPr lang="en-IN" sz="2800" dirty="0"/>
              <a:t>It does not indicate the cost of capital. </a:t>
            </a:r>
          </a:p>
          <a:p>
            <a:pPr lvl="0" algn="just" fontAlgn="base"/>
            <a:r>
              <a:rPr lang="en-IN" sz="2800" dirty="0"/>
              <a:t>Where projects differ in their duration and their cash flows, this method cannot be used. (It is her profitability index is used) </a:t>
            </a:r>
          </a:p>
          <a:p>
            <a:pPr algn="just"/>
            <a:endParaRPr lang="en-IN" sz="2800" dirty="0"/>
          </a:p>
        </p:txBody>
      </p:sp>
    </p:spTree>
    <p:extLst>
      <p:ext uri="{BB962C8B-B14F-4D97-AF65-F5344CB8AC3E}">
        <p14:creationId xmlns:p14="http://schemas.microsoft.com/office/powerpoint/2010/main" val="1914207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8CA5-B7CF-E4CC-6E05-9608B9DF7807}"/>
              </a:ext>
            </a:extLst>
          </p:cNvPr>
          <p:cNvSpPr>
            <a:spLocks noGrp="1"/>
          </p:cNvSpPr>
          <p:nvPr>
            <p:ph type="title"/>
          </p:nvPr>
        </p:nvSpPr>
        <p:spPr/>
        <p:txBody>
          <a:bodyPr/>
          <a:lstStyle/>
          <a:p>
            <a:r>
              <a:rPr lang="en-IN"/>
              <a:t>Net Present Value</a:t>
            </a:r>
          </a:p>
        </p:txBody>
      </p:sp>
      <p:sp>
        <p:nvSpPr>
          <p:cNvPr id="3" name="Content Placeholder 2">
            <a:extLst>
              <a:ext uri="{FF2B5EF4-FFF2-40B4-BE49-F238E27FC236}">
                <a16:creationId xmlns:a16="http://schemas.microsoft.com/office/drawing/2014/main" id="{3EE6B918-2EAA-428C-89D0-48F5B80B4F0E}"/>
              </a:ext>
            </a:extLst>
          </p:cNvPr>
          <p:cNvSpPr>
            <a:spLocks noGrp="1"/>
          </p:cNvSpPr>
          <p:nvPr>
            <p:ph idx="1"/>
          </p:nvPr>
        </p:nvSpPr>
        <p:spPr>
          <a:xfrm>
            <a:off x="590551" y="1694168"/>
            <a:ext cx="10896600" cy="4711114"/>
          </a:xfrm>
        </p:spPr>
        <p:txBody>
          <a:bodyPr>
            <a:normAutofit fontScale="25000" lnSpcReduction="20000"/>
          </a:bodyPr>
          <a:lstStyle/>
          <a:p>
            <a:pPr algn="l" fontAlgn="base"/>
            <a:endParaRPr lang="en-US" b="1" i="0" u="none" strike="noStrike" dirty="0">
              <a:solidFill>
                <a:srgbClr val="333333"/>
              </a:solidFill>
              <a:effectLst/>
              <a:latin typeface="Georgia" panose="02040502050405020303" pitchFamily="18" charset="0"/>
            </a:endParaRPr>
          </a:p>
          <a:p>
            <a:pPr marL="0" indent="0" algn="l" fontAlgn="base">
              <a:buNone/>
            </a:pPr>
            <a:r>
              <a:rPr lang="en-US" sz="8000" dirty="0">
                <a:solidFill>
                  <a:schemeClr val="tx1"/>
                </a:solidFill>
                <a:latin typeface="Times New Roman" panose="02020603050405020304" pitchFamily="18" charset="0"/>
                <a:cs typeface="Times New Roman" panose="02020603050405020304" pitchFamily="18" charset="0"/>
              </a:rPr>
              <a:t>NPV</a:t>
            </a:r>
            <a:r>
              <a:rPr lang="en-US" sz="8000" b="1" i="0" u="none" strike="noStrike" dirty="0">
                <a:solidFill>
                  <a:srgbClr val="333333"/>
                </a:solidFill>
                <a:effectLst/>
                <a:latin typeface="Times New Roman" panose="02020603050405020304" pitchFamily="18" charset="0"/>
                <a:cs typeface="Times New Roman" panose="02020603050405020304" pitchFamily="18" charset="0"/>
              </a:rPr>
              <a:t>:</a:t>
            </a:r>
          </a:p>
          <a:p>
            <a:pPr algn="l" fontAlgn="base"/>
            <a:r>
              <a:rPr lang="en-US" sz="8000" dirty="0">
                <a:solidFill>
                  <a:schemeClr val="tx1"/>
                </a:solidFill>
                <a:latin typeface="Times New Roman" panose="02020603050405020304" pitchFamily="18" charset="0"/>
                <a:cs typeface="Times New Roman" panose="02020603050405020304" pitchFamily="18" charset="0"/>
              </a:rPr>
              <a:t>A project’s net present value (NPV) is defined as the difference between present value of total cash inflow and the present value of total cash outflow over the life of the project.</a:t>
            </a:r>
          </a:p>
          <a:p>
            <a:pPr fontAlgn="base"/>
            <a:r>
              <a:rPr lang="en-US" sz="8000" dirty="0">
                <a:solidFill>
                  <a:schemeClr val="tx1"/>
                </a:solidFill>
                <a:latin typeface="Times New Roman" panose="02020603050405020304" pitchFamily="18" charset="0"/>
                <a:cs typeface="Times New Roman" panose="02020603050405020304" pitchFamily="18" charset="0"/>
              </a:rPr>
              <a:t>Present value of a </a:t>
            </a:r>
            <a:r>
              <a:rPr lang="en-US" sz="8000"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cash flow</a:t>
            </a:r>
            <a:r>
              <a:rPr lang="en-US" sz="8000" dirty="0">
                <a:solidFill>
                  <a:schemeClr val="tx1"/>
                </a:solidFill>
                <a:latin typeface="Times New Roman" panose="02020603050405020304" pitchFamily="18" charset="0"/>
                <a:cs typeface="Times New Roman" panose="02020603050405020304" pitchFamily="18" charset="0"/>
              </a:rPr>
              <a:t> means the amount of cash due to be received or paid at a future point of time, discounted using an appropriate discount factor which in most cases is the company’s cost of </a:t>
            </a:r>
            <a:r>
              <a:rPr lang="en-US" sz="8000" dirty="0">
                <a:solidFill>
                  <a:schemeClr val="tx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capital</a:t>
            </a:r>
            <a:r>
              <a:rPr lang="en-US" sz="8000" dirty="0">
                <a:solidFill>
                  <a:schemeClr val="tx1"/>
                </a:solidFill>
                <a:latin typeface="Times New Roman" panose="02020603050405020304" pitchFamily="18" charset="0"/>
                <a:cs typeface="Times New Roman" panose="02020603050405020304" pitchFamily="18" charset="0"/>
              </a:rPr>
              <a:t>.</a:t>
            </a:r>
          </a:p>
          <a:p>
            <a:pPr fontAlgn="base"/>
            <a:r>
              <a:rPr lang="en-US" sz="8000" dirty="0">
                <a:solidFill>
                  <a:schemeClr val="tx1"/>
                </a:solidFill>
                <a:latin typeface="Times New Roman" panose="02020603050405020304" pitchFamily="18" charset="0"/>
                <a:cs typeface="Times New Roman" panose="02020603050405020304" pitchFamily="18" charset="0"/>
              </a:rPr>
              <a:t>The </a:t>
            </a:r>
            <a:r>
              <a:rPr lang="en-US" sz="8000" dirty="0">
                <a:solidFill>
                  <a:schemeClr val="tx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cost of capital</a:t>
            </a:r>
            <a:r>
              <a:rPr lang="en-US" sz="8000" dirty="0">
                <a:solidFill>
                  <a:schemeClr val="tx1"/>
                </a:solidFill>
                <a:latin typeface="Times New Roman" panose="02020603050405020304" pitchFamily="18" charset="0"/>
                <a:cs typeface="Times New Roman" panose="02020603050405020304" pitchFamily="18" charset="0"/>
              </a:rPr>
              <a:t> of a business is the minimum combined rate of return that its investors (shareholders and </a:t>
            </a:r>
            <a:r>
              <a:rPr lang="en-US" sz="8000" dirty="0">
                <a:solidFill>
                  <a:schemeClr val="tx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creditors</a:t>
            </a:r>
            <a:r>
              <a:rPr lang="en-US" sz="8000" dirty="0">
                <a:solidFill>
                  <a:schemeClr val="tx1"/>
                </a:solidFill>
                <a:latin typeface="Times New Roman" panose="02020603050405020304" pitchFamily="18" charset="0"/>
                <a:cs typeface="Times New Roman" panose="02020603050405020304" pitchFamily="18" charset="0"/>
              </a:rPr>
              <a:t>) expect from a business.</a:t>
            </a:r>
          </a:p>
          <a:p>
            <a:pPr fontAlgn="base"/>
            <a:r>
              <a:rPr lang="en-US" sz="8000" dirty="0">
                <a:solidFill>
                  <a:schemeClr val="tx1"/>
                </a:solidFill>
                <a:latin typeface="Times New Roman" panose="02020603050405020304" pitchFamily="18" charset="0"/>
                <a:cs typeface="Times New Roman" panose="02020603050405020304" pitchFamily="18" charset="0"/>
              </a:rPr>
              <a:t>The projects with positive NPV promise a positive overall cash flow. Such projects are considered desirable and are </a:t>
            </a:r>
            <a:r>
              <a:rPr lang="en-US" sz="8000" dirty="0">
                <a:solidFill>
                  <a:schemeClr val="tx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therefore</a:t>
            </a:r>
            <a:r>
              <a:rPr lang="en-US" sz="8000" dirty="0">
                <a:solidFill>
                  <a:schemeClr val="tx1"/>
                </a:solidFill>
                <a:latin typeface="Times New Roman" panose="02020603050405020304" pitchFamily="18" charset="0"/>
                <a:cs typeface="Times New Roman" panose="02020603050405020304" pitchFamily="18" charset="0"/>
              </a:rPr>
              <a:t> accepted. The project with a negative NPV indicate a negative overall cash flow. These projects are considered undesirable and are not undertaken.</a:t>
            </a:r>
          </a:p>
          <a:p>
            <a:pPr marL="0" indent="0" fontAlgn="base">
              <a:buNone/>
            </a:pPr>
            <a:r>
              <a:rPr lang="en-US" sz="8000" dirty="0">
                <a:solidFill>
                  <a:schemeClr val="tx1"/>
                </a:solidFill>
                <a:latin typeface="Times New Roman" panose="02020603050405020304" pitchFamily="18" charset="0"/>
                <a:cs typeface="Times New Roman" panose="02020603050405020304" pitchFamily="18" charset="0"/>
              </a:rPr>
              <a:t>Formula of NPV </a:t>
            </a:r>
          </a:p>
          <a:p>
            <a:pPr fontAlgn="base"/>
            <a:r>
              <a:rPr lang="en-US" sz="8000" dirty="0">
                <a:solidFill>
                  <a:schemeClr val="tx1"/>
                </a:solidFill>
                <a:latin typeface="Times New Roman" panose="02020603050405020304" pitchFamily="18" charset="0"/>
                <a:cs typeface="Times New Roman" panose="02020603050405020304" pitchFamily="18" charset="0"/>
              </a:rPr>
              <a:t>NPV = Total present value of Cash inflows - Total present value of Cash outflows</a:t>
            </a:r>
          </a:p>
          <a:p>
            <a:pPr algn="l" fontAlgn="base"/>
            <a:endParaRPr lang="en-US" b="0" i="0" dirty="0">
              <a:solidFill>
                <a:srgbClr val="333333"/>
              </a:solidFill>
              <a:effectLst/>
              <a:latin typeface="Aleo" panose="00000500000000000000" pitchFamily="2" charset="0"/>
            </a:endParaRPr>
          </a:p>
          <a:p>
            <a:br>
              <a:rPr lang="en-US" dirty="0"/>
            </a:br>
            <a:br>
              <a:rPr lang="en-US" dirty="0"/>
            </a:br>
            <a:endParaRPr lang="en-IN" dirty="0"/>
          </a:p>
        </p:txBody>
      </p:sp>
      <p:sp>
        <p:nvSpPr>
          <p:cNvPr id="4" name="Slide Number Placeholder 3">
            <a:extLst>
              <a:ext uri="{FF2B5EF4-FFF2-40B4-BE49-F238E27FC236}">
                <a16:creationId xmlns:a16="http://schemas.microsoft.com/office/drawing/2014/main" id="{1D0FE301-BE5B-F075-1DA8-E294C09CF662}"/>
              </a:ext>
            </a:extLst>
          </p:cNvPr>
          <p:cNvSpPr>
            <a:spLocks noGrp="1"/>
          </p:cNvSpPr>
          <p:nvPr>
            <p:ph type="sldNum" sz="quarter" idx="12"/>
          </p:nvPr>
        </p:nvSpPr>
        <p:spPr/>
        <p:txBody>
          <a:bodyPr/>
          <a:lstStyle/>
          <a:p>
            <a:fld id="{519954A3-9DFD-4C44-94BA-B95130A3BA1C}" type="slidenum">
              <a:rPr lang="en-US" smtClean="0"/>
              <a:pPr/>
              <a:t>32</a:t>
            </a:fld>
            <a:endParaRPr lang="en-US" dirty="0"/>
          </a:p>
        </p:txBody>
      </p:sp>
    </p:spTree>
    <p:extLst>
      <p:ext uri="{BB962C8B-B14F-4D97-AF65-F5344CB8AC3E}">
        <p14:creationId xmlns:p14="http://schemas.microsoft.com/office/powerpoint/2010/main" val="31166102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92975-DBB6-6EE9-44B6-3852B21AB947}"/>
              </a:ext>
            </a:extLst>
          </p:cNvPr>
          <p:cNvSpPr>
            <a:spLocks noGrp="1"/>
          </p:cNvSpPr>
          <p:nvPr>
            <p:ph type="title"/>
          </p:nvPr>
        </p:nvSpPr>
        <p:spPr/>
        <p:txBody>
          <a:bodyPr/>
          <a:lstStyle/>
          <a:p>
            <a:r>
              <a:rPr lang="en-IN" sz="4400" kern="100" dirty="0">
                <a:latin typeface="Times New Roman" panose="02020603050405020304" pitchFamily="18" charset="0"/>
                <a:ea typeface="Calibri" panose="020F0502020204030204" pitchFamily="34" charset="0"/>
                <a:cs typeface="Times New Roman" panose="02020603050405020304" pitchFamily="18" charset="0"/>
              </a:rPr>
              <a:t>T</a:t>
            </a:r>
            <a:r>
              <a:rPr lang="en-IN" sz="4400" kern="100" dirty="0">
                <a:effectLst/>
                <a:latin typeface="Times New Roman" panose="02020603050405020304" pitchFamily="18" charset="0"/>
                <a:ea typeface="Calibri" panose="020F0502020204030204" pitchFamily="34" charset="0"/>
                <a:cs typeface="Times New Roman" panose="02020603050405020304" pitchFamily="18" charset="0"/>
              </a:rPr>
              <a:t>he stages in the determination of NPV</a:t>
            </a:r>
            <a:br>
              <a:rPr lang="en-IN"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5622D68-E526-25DA-FE57-75BB0354AAE1}"/>
              </a:ext>
            </a:extLst>
          </p:cNvPr>
          <p:cNvSpPr>
            <a:spLocks noGrp="1"/>
          </p:cNvSpPr>
          <p:nvPr>
            <p:ph idx="1"/>
          </p:nvPr>
        </p:nvSpPr>
        <p:spPr>
          <a:xfrm>
            <a:off x="916113" y="1590581"/>
            <a:ext cx="10629776" cy="5267419"/>
          </a:xfrm>
        </p:spPr>
        <p:txBody>
          <a:bodyPr>
            <a:normAutofit lnSpcReduction="10000"/>
          </a:bodyPr>
          <a:lstStyle/>
          <a:p>
            <a:pPr marL="0" indent="0">
              <a:lnSpc>
                <a:spcPct val="107000"/>
              </a:lnSpc>
              <a:buNone/>
            </a:pPr>
            <a:r>
              <a:rPr lang="en-IN" sz="20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1. From the PV factor table, identify the PV factors of Re 1 for the given discount rate (PV) </a:t>
            </a:r>
          </a:p>
          <a:p>
            <a:pPr marL="0" indent="0">
              <a:lnSpc>
                <a:spcPct val="107000"/>
              </a:lnSpc>
              <a:buNone/>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2. Multiply the cash flows (both outflows and inflows) with the corresponding PV factor to find the products DCF =(PV)*(CFAT)</a:t>
            </a:r>
          </a:p>
          <a:p>
            <a:pPr marL="0" indent="0">
              <a:lnSpc>
                <a:spcPct val="107000"/>
              </a:lnSpc>
              <a:buNone/>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3. Find the sum of the products</a:t>
            </a:r>
          </a:p>
          <a:p>
            <a:pPr marL="0" indent="0">
              <a:lnSpc>
                <a:spcPct val="107000"/>
              </a:lnSpc>
              <a:buNone/>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4.Apply the formula NPV=(PV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cfat</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 minus (</a:t>
            </a:r>
            <a:r>
              <a:rPr lang="en-IN" sz="2200" kern="100" dirty="0" err="1">
                <a:effectLst/>
                <a:latin typeface="Times New Roman" panose="02020603050405020304" pitchFamily="18" charset="0"/>
                <a:ea typeface="Calibri" panose="020F0502020204030204" pitchFamily="34" charset="0"/>
                <a:cs typeface="Times New Roman" panose="02020603050405020304" pitchFamily="18" charset="0"/>
              </a:rPr>
              <a:t>PVc</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lnSpc>
                <a:spcPct val="107000"/>
              </a:lnSpc>
              <a:buNone/>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If the </a:t>
            </a:r>
            <a:r>
              <a:rPr lang="en-IN" sz="2200" kern="100" dirty="0">
                <a:latin typeface="Times New Roman" panose="02020603050405020304" pitchFamily="18" charset="0"/>
                <a:ea typeface="Calibri" panose="020F0502020204030204" pitchFamily="34" charset="0"/>
                <a:cs typeface="Times New Roman" panose="02020603050405020304" pitchFamily="18" charset="0"/>
              </a:rPr>
              <a:t>NPV</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is positive, that means, the project is profitable. In case of projects with different NPVs. choose the project with the highest NPV because, the higher the NPV, the higher is the profitability.)</a:t>
            </a:r>
          </a:p>
          <a:p>
            <a:pPr marL="0" indent="0">
              <a:lnSpc>
                <a:spcPct val="107000"/>
              </a:lnSpc>
              <a:buNone/>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200" b="1" kern="100" dirty="0">
                <a:effectLst/>
                <a:latin typeface="Times New Roman" panose="02020603050405020304" pitchFamily="18" charset="0"/>
                <a:ea typeface="Calibri" panose="020F0502020204030204" pitchFamily="34" charset="0"/>
                <a:cs typeface="Times New Roman" panose="02020603050405020304" pitchFamily="18" charset="0"/>
              </a:rPr>
              <a:t>Interpretation</a:t>
            </a: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 </a:t>
            </a:r>
          </a:p>
          <a:p>
            <a:pPr>
              <a:lnSpc>
                <a:spcPct val="107000"/>
              </a:lnSpc>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NPV &gt; 1 which means that the project earns more than the discount rate</a:t>
            </a:r>
          </a:p>
          <a:p>
            <a:pPr>
              <a:lnSpc>
                <a:spcPct val="107000"/>
              </a:lnSpc>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NPV = 1 which means that the project earns the same as the discount rate </a:t>
            </a:r>
          </a:p>
          <a:p>
            <a:pPr>
              <a:lnSpc>
                <a:spcPct val="107000"/>
              </a:lnSpc>
            </a:pPr>
            <a:r>
              <a:rPr lang="en-IN" sz="2200" kern="100" dirty="0">
                <a:effectLst/>
                <a:latin typeface="Times New Roman" panose="02020603050405020304" pitchFamily="18" charset="0"/>
                <a:ea typeface="Calibri" panose="020F0502020204030204" pitchFamily="34" charset="0"/>
                <a:cs typeface="Times New Roman" panose="02020603050405020304" pitchFamily="18" charset="0"/>
              </a:rPr>
              <a:t>NPV &lt; 1 which means that the project earns less than the discount rate</a:t>
            </a:r>
          </a:p>
          <a:p>
            <a:pPr marL="0" indent="0">
              <a:lnSpc>
                <a:spcPct val="107000"/>
              </a:lnSpc>
              <a:buNone/>
            </a:pP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7F165381-2ED9-083E-E0EB-51FB08A381B9}"/>
              </a:ext>
            </a:extLst>
          </p:cNvPr>
          <p:cNvSpPr>
            <a:spLocks noGrp="1"/>
          </p:cNvSpPr>
          <p:nvPr>
            <p:ph type="sldNum" sz="quarter" idx="12"/>
          </p:nvPr>
        </p:nvSpPr>
        <p:spPr/>
        <p:txBody>
          <a:bodyPr/>
          <a:lstStyle/>
          <a:p>
            <a:fld id="{519954A3-9DFD-4C44-94BA-B95130A3BA1C}" type="slidenum">
              <a:rPr lang="en-US" smtClean="0"/>
              <a:pPr/>
              <a:t>33</a:t>
            </a:fld>
            <a:endParaRPr lang="en-US" dirty="0"/>
          </a:p>
        </p:txBody>
      </p:sp>
    </p:spTree>
    <p:extLst>
      <p:ext uri="{BB962C8B-B14F-4D97-AF65-F5344CB8AC3E}">
        <p14:creationId xmlns:p14="http://schemas.microsoft.com/office/powerpoint/2010/main" val="806660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E99C2-2B46-E1D2-7553-7AB5C99C65B3}"/>
              </a:ext>
            </a:extLst>
          </p:cNvPr>
          <p:cNvSpPr>
            <a:spLocks noGrp="1"/>
          </p:cNvSpPr>
          <p:nvPr>
            <p:ph type="title"/>
          </p:nvPr>
        </p:nvSpPr>
        <p:spPr/>
        <p:txBody>
          <a:bodyPr/>
          <a:lstStyle/>
          <a:p>
            <a:r>
              <a:rPr lang="en-IN" dirty="0"/>
              <a:t>NPV in case of Even Cash Inflows</a:t>
            </a:r>
          </a:p>
        </p:txBody>
      </p:sp>
      <p:sp>
        <p:nvSpPr>
          <p:cNvPr id="3" name="Content Placeholder 2">
            <a:extLst>
              <a:ext uri="{FF2B5EF4-FFF2-40B4-BE49-F238E27FC236}">
                <a16:creationId xmlns:a16="http://schemas.microsoft.com/office/drawing/2014/main" id="{7D048E18-A29F-1D9E-838C-F61DEE73CD55}"/>
              </a:ext>
            </a:extLst>
          </p:cNvPr>
          <p:cNvSpPr>
            <a:spLocks noGrp="1"/>
          </p:cNvSpPr>
          <p:nvPr>
            <p:ph idx="1"/>
          </p:nvPr>
        </p:nvSpPr>
        <p:spPr/>
        <p:txBody>
          <a:bodyPr/>
          <a:lstStyle/>
          <a:p>
            <a:r>
              <a:rPr lang="en-US" dirty="0"/>
              <a:t>Problem: NPV determination in case of even cash inflows</a:t>
            </a:r>
          </a:p>
          <a:p>
            <a:endParaRPr lang="en-US" dirty="0"/>
          </a:p>
          <a:p>
            <a:r>
              <a:rPr lang="en-US" dirty="0"/>
              <a:t>Given that a project costing Rs 40,000 has annual cash inflows of Rs 20,000 after taxes for a period of 6 years. How much is the net present value if the firm expects 15 percent per annum?</a:t>
            </a:r>
          </a:p>
          <a:p>
            <a:endParaRPr lang="en-US" dirty="0"/>
          </a:p>
          <a:p>
            <a:r>
              <a:rPr lang="en-US" dirty="0"/>
              <a:t>Net present Value = (PVCFAT) minus (PVC) PV (annuity) factor @ 15 percent for six years= 3.784 PV CFAT = 20000 * 3.784 = Rs 75,680 NPV = 75,680 - 40000 = Rs 35,680</a:t>
            </a:r>
          </a:p>
          <a:p>
            <a:endParaRPr lang="en-IN" dirty="0"/>
          </a:p>
        </p:txBody>
      </p:sp>
      <p:sp>
        <p:nvSpPr>
          <p:cNvPr id="4" name="Slide Number Placeholder 3">
            <a:extLst>
              <a:ext uri="{FF2B5EF4-FFF2-40B4-BE49-F238E27FC236}">
                <a16:creationId xmlns:a16="http://schemas.microsoft.com/office/drawing/2014/main" id="{749F697A-B012-D519-E12C-E4F45E2F79CA}"/>
              </a:ext>
            </a:extLst>
          </p:cNvPr>
          <p:cNvSpPr>
            <a:spLocks noGrp="1"/>
          </p:cNvSpPr>
          <p:nvPr>
            <p:ph type="sldNum" sz="quarter" idx="12"/>
          </p:nvPr>
        </p:nvSpPr>
        <p:spPr/>
        <p:txBody>
          <a:bodyPr/>
          <a:lstStyle/>
          <a:p>
            <a:fld id="{519954A3-9DFD-4C44-94BA-B95130A3BA1C}" type="slidenum">
              <a:rPr lang="en-US" smtClean="0"/>
              <a:pPr/>
              <a:t>34</a:t>
            </a:fld>
            <a:endParaRPr lang="en-US" dirty="0"/>
          </a:p>
        </p:txBody>
      </p:sp>
    </p:spTree>
    <p:extLst>
      <p:ext uri="{BB962C8B-B14F-4D97-AF65-F5344CB8AC3E}">
        <p14:creationId xmlns:p14="http://schemas.microsoft.com/office/powerpoint/2010/main" val="6333884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FE3EE-F9B5-3554-6601-D79538546FB6}"/>
              </a:ext>
            </a:extLst>
          </p:cNvPr>
          <p:cNvSpPr>
            <a:spLocks noGrp="1"/>
          </p:cNvSpPr>
          <p:nvPr>
            <p:ph type="title"/>
          </p:nvPr>
        </p:nvSpPr>
        <p:spPr>
          <a:xfrm>
            <a:off x="646111" y="452717"/>
            <a:ext cx="9404723" cy="965117"/>
          </a:xfrm>
        </p:spPr>
        <p:txBody>
          <a:bodyPr/>
          <a:lstStyle/>
          <a:p>
            <a:r>
              <a:rPr lang="en-IN" sz="3600" dirty="0"/>
              <a:t>Problem on NPV when uneven cash flows</a:t>
            </a:r>
          </a:p>
        </p:txBody>
      </p:sp>
      <p:sp>
        <p:nvSpPr>
          <p:cNvPr id="3" name="Content Placeholder 2">
            <a:extLst>
              <a:ext uri="{FF2B5EF4-FFF2-40B4-BE49-F238E27FC236}">
                <a16:creationId xmlns:a16="http://schemas.microsoft.com/office/drawing/2014/main" id="{385E6034-F9F7-54B9-658D-26534D92AB0A}"/>
              </a:ext>
            </a:extLst>
          </p:cNvPr>
          <p:cNvSpPr>
            <a:spLocks noGrp="1"/>
          </p:cNvSpPr>
          <p:nvPr>
            <p:ph idx="1"/>
          </p:nvPr>
        </p:nvSpPr>
        <p:spPr>
          <a:xfrm>
            <a:off x="1103312" y="1417834"/>
            <a:ext cx="9633182" cy="4830565"/>
          </a:xfrm>
        </p:spPr>
        <p:txBody>
          <a:bodyPr>
            <a:normAutofit fontScale="92500" lnSpcReduction="20000"/>
          </a:bodyPr>
          <a:lstStyle/>
          <a:p>
            <a:endParaRPr lang="en-IN" dirty="0"/>
          </a:p>
          <a:p>
            <a:r>
              <a:rPr lang="en-IN" dirty="0"/>
              <a:t>Cost of Capital Rs. 50000/-</a:t>
            </a:r>
          </a:p>
          <a:p>
            <a:r>
              <a:rPr lang="en-IN" dirty="0"/>
              <a:t>Inflows 20000,40000,35000,67000,16000 for 5 years.</a:t>
            </a:r>
          </a:p>
          <a:p>
            <a:endParaRPr lang="en-IN" dirty="0"/>
          </a:p>
          <a:p>
            <a:r>
              <a:rPr lang="en-IN" dirty="0"/>
              <a:t>Year		CFAT		PV(10%)		PVCFAT</a:t>
            </a:r>
          </a:p>
          <a:p>
            <a:r>
              <a:rPr lang="en-IN" dirty="0"/>
              <a:t>1		20000		.909			18180</a:t>
            </a:r>
          </a:p>
          <a:p>
            <a:r>
              <a:rPr lang="en-IN" dirty="0"/>
              <a:t>2		40000		.826			33040</a:t>
            </a:r>
          </a:p>
          <a:p>
            <a:r>
              <a:rPr lang="en-IN" dirty="0"/>
              <a:t>3		35000		.751			26285</a:t>
            </a:r>
          </a:p>
          <a:p>
            <a:r>
              <a:rPr lang="en-IN" dirty="0"/>
              <a:t>4		67000		.683			45761</a:t>
            </a:r>
          </a:p>
          <a:p>
            <a:r>
              <a:rPr lang="en-IN" dirty="0"/>
              <a:t>5		16000		.621			  </a:t>
            </a:r>
            <a:r>
              <a:rPr lang="en-IN" u="sng" dirty="0"/>
              <a:t>9936</a:t>
            </a:r>
          </a:p>
          <a:p>
            <a:pPr marL="0" indent="0">
              <a:buNone/>
            </a:pPr>
            <a:r>
              <a:rPr lang="en-IN" dirty="0"/>
              <a:t>				TOTAL	=			</a:t>
            </a:r>
            <a:r>
              <a:rPr lang="en-IN" dirty="0">
                <a:solidFill>
                  <a:srgbClr val="FFFF00"/>
                </a:solidFill>
              </a:rPr>
              <a:t>	</a:t>
            </a:r>
            <a:r>
              <a:rPr lang="en-IN" u="sng" dirty="0">
                <a:solidFill>
                  <a:srgbClr val="FFFF00"/>
                </a:solidFill>
              </a:rPr>
              <a:t>133202</a:t>
            </a:r>
            <a:endParaRPr lang="en-IN" dirty="0">
              <a:solidFill>
                <a:srgbClr val="FFFF00"/>
              </a:solidFill>
            </a:endParaRPr>
          </a:p>
          <a:p>
            <a:pPr marL="0" indent="0">
              <a:buNone/>
            </a:pPr>
            <a:r>
              <a:rPr lang="en-IN" dirty="0">
                <a:solidFill>
                  <a:srgbClr val="FFFF00"/>
                </a:solidFill>
              </a:rPr>
              <a:t>				PVC=					-</a:t>
            </a:r>
            <a:r>
              <a:rPr lang="en-IN" u="sng" dirty="0">
                <a:solidFill>
                  <a:srgbClr val="FFFF00"/>
                </a:solidFill>
              </a:rPr>
              <a:t>50000</a:t>
            </a:r>
          </a:p>
          <a:p>
            <a:pPr marL="0" indent="0">
              <a:buNone/>
            </a:pPr>
            <a:r>
              <a:rPr lang="en-IN" dirty="0">
                <a:solidFill>
                  <a:srgbClr val="00B0F0"/>
                </a:solidFill>
              </a:rPr>
              <a:t>				NPV=					 83202</a:t>
            </a:r>
          </a:p>
        </p:txBody>
      </p:sp>
      <p:sp>
        <p:nvSpPr>
          <p:cNvPr id="4" name="Slide Number Placeholder 3">
            <a:extLst>
              <a:ext uri="{FF2B5EF4-FFF2-40B4-BE49-F238E27FC236}">
                <a16:creationId xmlns:a16="http://schemas.microsoft.com/office/drawing/2014/main" id="{8A3F9434-00A8-53BE-0239-BE0D94E755D0}"/>
              </a:ext>
            </a:extLst>
          </p:cNvPr>
          <p:cNvSpPr>
            <a:spLocks noGrp="1"/>
          </p:cNvSpPr>
          <p:nvPr>
            <p:ph type="sldNum" sz="quarter" idx="12"/>
          </p:nvPr>
        </p:nvSpPr>
        <p:spPr/>
        <p:txBody>
          <a:bodyPr/>
          <a:lstStyle/>
          <a:p>
            <a:fld id="{519954A3-9DFD-4C44-94BA-B95130A3BA1C}" type="slidenum">
              <a:rPr lang="en-US" smtClean="0"/>
              <a:pPr/>
              <a:t>35</a:t>
            </a:fld>
            <a:endParaRPr lang="en-US" dirty="0"/>
          </a:p>
        </p:txBody>
      </p:sp>
    </p:spTree>
    <p:extLst>
      <p:ext uri="{BB962C8B-B14F-4D97-AF65-F5344CB8AC3E}">
        <p14:creationId xmlns:p14="http://schemas.microsoft.com/office/powerpoint/2010/main" val="3612722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7693CFB-7552-1A79-B3BA-04E85875F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476" y="885824"/>
            <a:ext cx="10437953" cy="564853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873E01-9ED5-1188-C2FF-62BE0482219F}"/>
              </a:ext>
            </a:extLst>
          </p:cNvPr>
          <p:cNvSpPr txBox="1"/>
          <p:nvPr/>
        </p:nvSpPr>
        <p:spPr>
          <a:xfrm>
            <a:off x="1618592" y="241738"/>
            <a:ext cx="5265683" cy="646331"/>
          </a:xfrm>
          <a:prstGeom prst="rect">
            <a:avLst/>
          </a:prstGeom>
          <a:noFill/>
        </p:spPr>
        <p:txBody>
          <a:bodyPr wrap="square" rtlCol="0">
            <a:spAutoFit/>
          </a:bodyPr>
          <a:lstStyle/>
          <a:p>
            <a:r>
              <a:rPr lang="en-US" b="1" i="0" dirty="0">
                <a:effectLst/>
                <a:latin typeface="guardian-text-oreilly"/>
              </a:rPr>
              <a:t>Table 1:</a:t>
            </a:r>
            <a:r>
              <a:rPr lang="en-US" b="0" i="0" dirty="0">
                <a:effectLst/>
                <a:latin typeface="guardian-text-oreilly"/>
              </a:rPr>
              <a:t> Present Value of Re 1 Due at the End of </a:t>
            </a:r>
            <a:r>
              <a:rPr lang="en-US" b="0" i="1" dirty="0">
                <a:effectLst/>
                <a:latin typeface="guardian-text-oreilly"/>
              </a:rPr>
              <a:t>n</a:t>
            </a:r>
            <a:r>
              <a:rPr lang="en-US" b="0" i="0" dirty="0">
                <a:effectLst/>
                <a:latin typeface="guardian-text-oreilly"/>
              </a:rPr>
              <a:t> Periods</a:t>
            </a:r>
            <a:endParaRPr lang="en-US" sz="1800" kern="1200" dirty="0">
              <a:latin typeface="+mn-lt"/>
              <a:ea typeface="+mn-ea"/>
              <a:cs typeface="+mn-cs"/>
            </a:endParaRPr>
          </a:p>
        </p:txBody>
      </p:sp>
      <p:sp>
        <p:nvSpPr>
          <p:cNvPr id="2" name="Slide Number Placeholder 1">
            <a:extLst>
              <a:ext uri="{FF2B5EF4-FFF2-40B4-BE49-F238E27FC236}">
                <a16:creationId xmlns:a16="http://schemas.microsoft.com/office/drawing/2014/main" id="{1C745B0A-7232-BA0D-703C-6129153160CD}"/>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875669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A9C9EB44-B54C-3240-510A-CE2039933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817" y="998481"/>
            <a:ext cx="11204028" cy="550216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3106355-F1A3-D1D3-B1BE-792FD4C2D8C6}"/>
              </a:ext>
            </a:extLst>
          </p:cNvPr>
          <p:cNvSpPr txBox="1"/>
          <p:nvPr/>
        </p:nvSpPr>
        <p:spPr>
          <a:xfrm>
            <a:off x="2017986" y="357352"/>
            <a:ext cx="5433848" cy="646331"/>
          </a:xfrm>
          <a:prstGeom prst="rect">
            <a:avLst/>
          </a:prstGeom>
          <a:noFill/>
        </p:spPr>
        <p:txBody>
          <a:bodyPr wrap="square" rtlCol="0">
            <a:spAutoFit/>
          </a:bodyPr>
          <a:lstStyle/>
          <a:p>
            <a:r>
              <a:rPr lang="en-US" b="1" i="0" dirty="0">
                <a:effectLst/>
                <a:latin typeface="guardian-text-oreilly"/>
              </a:rPr>
              <a:t>Table 1:</a:t>
            </a:r>
            <a:r>
              <a:rPr lang="en-US" b="0" i="0" dirty="0">
                <a:effectLst/>
                <a:latin typeface="guardian-text-oreilly"/>
              </a:rPr>
              <a:t> Present Value of Re 1 Due at the End of </a:t>
            </a:r>
            <a:r>
              <a:rPr lang="en-US" b="0" i="1" dirty="0">
                <a:effectLst/>
                <a:latin typeface="guardian-text-oreilly"/>
              </a:rPr>
              <a:t>n</a:t>
            </a:r>
            <a:r>
              <a:rPr lang="en-US" b="0" i="0" dirty="0">
                <a:effectLst/>
                <a:latin typeface="guardian-text-oreilly"/>
              </a:rPr>
              <a:t> Periods</a:t>
            </a:r>
            <a:endParaRPr lang="en-US" sz="1800" kern="1200" dirty="0">
              <a:latin typeface="+mn-lt"/>
              <a:ea typeface="+mn-ea"/>
              <a:cs typeface="+mn-cs"/>
            </a:endParaRPr>
          </a:p>
        </p:txBody>
      </p:sp>
      <p:sp>
        <p:nvSpPr>
          <p:cNvPr id="3" name="Slide Number Placeholder 2">
            <a:extLst>
              <a:ext uri="{FF2B5EF4-FFF2-40B4-BE49-F238E27FC236}">
                <a16:creationId xmlns:a16="http://schemas.microsoft.com/office/drawing/2014/main" id="{3EA693E8-9923-AE23-281B-2F3FCBF7D7A9}"/>
              </a:ext>
            </a:extLst>
          </p:cNvPr>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39378917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582923E-04B5-28A7-3B49-2767C3F517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47" y="924910"/>
            <a:ext cx="11779381" cy="58124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56C079-18FC-46ED-B456-F55BF848BF9D}"/>
              </a:ext>
            </a:extLst>
          </p:cNvPr>
          <p:cNvSpPr txBox="1"/>
          <p:nvPr/>
        </p:nvSpPr>
        <p:spPr>
          <a:xfrm>
            <a:off x="1208690" y="178676"/>
            <a:ext cx="5665076" cy="646331"/>
          </a:xfrm>
          <a:prstGeom prst="rect">
            <a:avLst/>
          </a:prstGeom>
          <a:noFill/>
        </p:spPr>
        <p:txBody>
          <a:bodyPr wrap="square" rtlCol="0">
            <a:spAutoFit/>
          </a:bodyPr>
          <a:lstStyle/>
          <a:p>
            <a:r>
              <a:rPr lang="en-US" b="1" i="0" dirty="0">
                <a:effectLst/>
                <a:latin typeface="guardian-text-oreilly"/>
              </a:rPr>
              <a:t>Table 2:</a:t>
            </a:r>
            <a:r>
              <a:rPr lang="en-US" b="0" i="0" dirty="0">
                <a:effectLst/>
                <a:latin typeface="guardian-text-oreilly"/>
              </a:rPr>
              <a:t> Present Value of an Annuity of Re 1 per Period for </a:t>
            </a:r>
            <a:r>
              <a:rPr lang="en-US" b="0" i="1" dirty="0">
                <a:effectLst/>
                <a:latin typeface="guardian-text-oreilly"/>
              </a:rPr>
              <a:t>n</a:t>
            </a:r>
            <a:r>
              <a:rPr lang="en-US" b="0" i="0" dirty="0">
                <a:effectLst/>
                <a:latin typeface="guardian-text-oreilly"/>
              </a:rPr>
              <a:t> Periods (Cumulative)</a:t>
            </a:r>
            <a:endParaRPr lang="en-IN" dirty="0"/>
          </a:p>
        </p:txBody>
      </p:sp>
      <p:sp>
        <p:nvSpPr>
          <p:cNvPr id="2" name="Slide Number Placeholder 1">
            <a:extLst>
              <a:ext uri="{FF2B5EF4-FFF2-40B4-BE49-F238E27FC236}">
                <a16:creationId xmlns:a16="http://schemas.microsoft.com/office/drawing/2014/main" id="{7DAD8E6D-8A92-92C2-730B-CC787F9576DA}"/>
              </a:ext>
            </a:extLst>
          </p:cNvPr>
          <p:cNvSpPr>
            <a:spLocks noGrp="1"/>
          </p:cNvSpPr>
          <p:nvPr>
            <p:ph type="sldNum" sz="quarter" idx="12"/>
          </p:nvPr>
        </p:nvSpPr>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1340757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0F18A5-31D8-4F18-59B8-F1EC97A4B785}"/>
              </a:ext>
            </a:extLst>
          </p:cNvPr>
          <p:cNvSpPr txBox="1"/>
          <p:nvPr/>
        </p:nvSpPr>
        <p:spPr>
          <a:xfrm>
            <a:off x="210207" y="73572"/>
            <a:ext cx="8941675" cy="369332"/>
          </a:xfrm>
          <a:prstGeom prst="rect">
            <a:avLst/>
          </a:prstGeom>
          <a:noFill/>
        </p:spPr>
        <p:txBody>
          <a:bodyPr wrap="square">
            <a:spAutoFit/>
          </a:bodyPr>
          <a:lstStyle/>
          <a:p>
            <a:r>
              <a:rPr lang="en-US" b="1" i="0" dirty="0">
                <a:effectLst/>
                <a:latin typeface="guardian-text-oreilly"/>
              </a:rPr>
              <a:t>Table 2:</a:t>
            </a:r>
            <a:r>
              <a:rPr lang="en-US" b="0" i="0" dirty="0">
                <a:effectLst/>
                <a:latin typeface="guardian-text-oreilly"/>
              </a:rPr>
              <a:t> Present Val</a:t>
            </a:r>
            <a:r>
              <a:rPr lang="en-US" b="1" dirty="0">
                <a:latin typeface="guardian-text-oreilly"/>
              </a:rPr>
              <a:t>ue </a:t>
            </a:r>
            <a:r>
              <a:rPr lang="en-US" b="0" i="0" dirty="0">
                <a:effectLst/>
                <a:latin typeface="guardian-text-oreilly"/>
              </a:rPr>
              <a:t>of an Annuity of Re 1 per Period for </a:t>
            </a:r>
            <a:r>
              <a:rPr lang="en-US" b="0" i="1" dirty="0">
                <a:effectLst/>
                <a:latin typeface="guardian-text-oreilly"/>
              </a:rPr>
              <a:t>n</a:t>
            </a:r>
            <a:r>
              <a:rPr lang="en-US" b="0" i="0" dirty="0">
                <a:effectLst/>
                <a:latin typeface="guardian-text-oreilly"/>
              </a:rPr>
              <a:t> Periods (Cumulative)</a:t>
            </a:r>
            <a:endParaRPr lang="en-IN" dirty="0"/>
          </a:p>
        </p:txBody>
      </p:sp>
      <p:pic>
        <p:nvPicPr>
          <p:cNvPr id="3074" name="Picture 2">
            <a:extLst>
              <a:ext uri="{FF2B5EF4-FFF2-40B4-BE49-F238E27FC236}">
                <a16:creationId xmlns:a16="http://schemas.microsoft.com/office/drawing/2014/main" id="{C4F84B1E-ECB0-8E4A-160A-AA388D6E73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710" y="596609"/>
            <a:ext cx="10846676" cy="5912069"/>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B4B90A5F-68D9-FF41-BF6E-88D221689E2E}"/>
              </a:ext>
            </a:extLst>
          </p:cNvPr>
          <p:cNvSpPr>
            <a:spLocks noGrp="1"/>
          </p:cNvSpPr>
          <p:nvPr>
            <p:ph type="sldNum" sz="quarter" idx="12"/>
          </p:nvPr>
        </p:nvSpPr>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23654069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6F7B2-F0AA-0302-B787-07BE171822E7}"/>
              </a:ext>
            </a:extLst>
          </p:cNvPr>
          <p:cNvSpPr>
            <a:spLocks noGrp="1"/>
          </p:cNvSpPr>
          <p:nvPr>
            <p:ph type="title"/>
          </p:nvPr>
        </p:nvSpPr>
        <p:spPr>
          <a:xfrm>
            <a:off x="646111" y="452718"/>
            <a:ext cx="9404723" cy="654187"/>
          </a:xfrm>
        </p:spPr>
        <p:txBody>
          <a:bodyPr/>
          <a:lstStyle/>
          <a:p>
            <a:r>
              <a:rPr lang="en-IN" dirty="0"/>
              <a:t>IRR</a:t>
            </a:r>
          </a:p>
        </p:txBody>
      </p:sp>
      <p:sp>
        <p:nvSpPr>
          <p:cNvPr id="3" name="Content Placeholder 2">
            <a:extLst>
              <a:ext uri="{FF2B5EF4-FFF2-40B4-BE49-F238E27FC236}">
                <a16:creationId xmlns:a16="http://schemas.microsoft.com/office/drawing/2014/main" id="{2AF7A0B8-E9FA-86BE-AFBB-01EC95371E0A}"/>
              </a:ext>
            </a:extLst>
          </p:cNvPr>
          <p:cNvSpPr>
            <a:spLocks noGrp="1"/>
          </p:cNvSpPr>
          <p:nvPr>
            <p:ph idx="1"/>
          </p:nvPr>
        </p:nvSpPr>
        <p:spPr>
          <a:xfrm>
            <a:off x="1104293" y="1331259"/>
            <a:ext cx="9755725" cy="5387175"/>
          </a:xfrm>
        </p:spPr>
        <p:txBody>
          <a:bodyPr>
            <a:normAutofit/>
          </a:bodyPr>
          <a:lstStyle/>
          <a:p>
            <a:pPr algn="l" fontAlgn="base"/>
            <a:r>
              <a:rPr lang="en-US" sz="2400" dirty="0">
                <a:solidFill>
                  <a:schemeClr val="tx1"/>
                </a:solidFill>
              </a:rPr>
              <a:t>The</a:t>
            </a:r>
            <a:r>
              <a:rPr lang="en-US" sz="2000" dirty="0">
                <a:solidFill>
                  <a:schemeClr val="tx1"/>
                </a:solidFill>
              </a:rPr>
              <a:t> internal rate of return (IRR) is the rate of </a:t>
            </a:r>
            <a:r>
              <a:rPr lang="en-US" sz="2000" dirty="0">
                <a:solidFill>
                  <a:schemeClr val="tx1"/>
                </a:solidFill>
                <a:hlinkClick r:id="rId2">
                  <a:extLst>
                    <a:ext uri="{A12FA001-AC4F-418D-AE19-62706E023703}">
                      <ahyp:hlinkClr xmlns:ahyp="http://schemas.microsoft.com/office/drawing/2018/hyperlinkcolor" val="tx"/>
                    </a:ext>
                  </a:extLst>
                </a:hlinkClick>
              </a:rPr>
              <a:t>interest</a:t>
            </a:r>
            <a:r>
              <a:rPr lang="en-US" sz="2000" dirty="0">
                <a:solidFill>
                  <a:schemeClr val="tx1"/>
                </a:solidFill>
              </a:rPr>
              <a:t> at which the NPV of a project becomes zero. It means that at this </a:t>
            </a:r>
            <a:r>
              <a:rPr lang="en-US" sz="2000" dirty="0">
                <a:solidFill>
                  <a:schemeClr val="tx1"/>
                </a:solidFill>
                <a:hlinkClick r:id="rId3">
                  <a:extLst>
                    <a:ext uri="{A12FA001-AC4F-418D-AE19-62706E023703}">
                      <ahyp:hlinkClr xmlns:ahyp="http://schemas.microsoft.com/office/drawing/2018/hyperlinkcolor" val="tx"/>
                    </a:ext>
                  </a:extLst>
                </a:hlinkClick>
              </a:rPr>
              <a:t>interest rate</a:t>
            </a:r>
            <a:r>
              <a:rPr lang="en-US" sz="2000" dirty="0">
                <a:solidFill>
                  <a:schemeClr val="tx1"/>
                </a:solidFill>
              </a:rPr>
              <a:t> a particular project stands at break-even. The projects whose IRR is </a:t>
            </a:r>
            <a:r>
              <a:rPr lang="en-US" sz="2000" dirty="0">
                <a:solidFill>
                  <a:srgbClr val="FFFF00"/>
                </a:solidFill>
              </a:rPr>
              <a:t>greater than the company’s cost of capital are considered desirable and therefore accepted.</a:t>
            </a:r>
            <a:r>
              <a:rPr lang="en-US" sz="2000" dirty="0">
                <a:solidFill>
                  <a:schemeClr val="tx1"/>
                </a:solidFill>
              </a:rPr>
              <a:t> Any project whose IRR is below the cost of capital of the company is not desirable and should be avoided.</a:t>
            </a:r>
          </a:p>
          <a:p>
            <a:pPr algn="l" fontAlgn="base"/>
            <a:r>
              <a:rPr lang="en-US" sz="2000" dirty="0">
                <a:solidFill>
                  <a:schemeClr val="tx1"/>
                </a:solidFill>
              </a:rPr>
              <a:t>As stated earlier that IRR is a rate at which NPV of a project equals  to zero, therefore any project that promises an IRR below the cost of capital indicates that its NPV is negative and it should not be undertaken.</a:t>
            </a:r>
          </a:p>
          <a:p>
            <a:pPr marL="0" indent="0" algn="l" fontAlgn="base">
              <a:buNone/>
            </a:pPr>
            <a:endParaRPr lang="en-US" dirty="0"/>
          </a:p>
          <a:p>
            <a:pPr marL="0" indent="0" algn="l" fontAlgn="base">
              <a:buNone/>
            </a:pPr>
            <a:r>
              <a:rPr lang="en-US" dirty="0"/>
              <a:t>	IRR=Lower Rate+[</a:t>
            </a:r>
            <a:r>
              <a:rPr lang="en-US" u="sng" dirty="0"/>
              <a:t>PV</a:t>
            </a:r>
            <a:r>
              <a:rPr lang="en-US" sz="1400" u="sng" dirty="0"/>
              <a:t>CFAT-</a:t>
            </a:r>
            <a:r>
              <a:rPr lang="en-US" u="sng" dirty="0" err="1"/>
              <a:t>PV</a:t>
            </a:r>
            <a:r>
              <a:rPr lang="en-US" sz="1800" u="sng" dirty="0" err="1"/>
              <a:t>c</a:t>
            </a:r>
            <a:r>
              <a:rPr lang="en-US" sz="1800" dirty="0"/>
              <a:t>]*∆R</a:t>
            </a:r>
            <a:endParaRPr lang="en-US" sz="1800" dirty="0">
              <a:solidFill>
                <a:schemeClr val="tx1"/>
              </a:solidFill>
            </a:endParaRPr>
          </a:p>
          <a:p>
            <a:pPr marL="914400" lvl="2" indent="0">
              <a:buNone/>
            </a:pPr>
            <a:r>
              <a:rPr lang="en-IN" dirty="0"/>
              <a:t>				</a:t>
            </a:r>
            <a:r>
              <a:rPr lang="en-US" sz="1600" dirty="0"/>
              <a:t> ∆PV</a:t>
            </a:r>
          </a:p>
          <a:p>
            <a:pPr marL="914400" lvl="2" indent="0">
              <a:buNone/>
            </a:pPr>
            <a:r>
              <a:rPr lang="en-US" dirty="0"/>
              <a:t>(</a:t>
            </a:r>
            <a:r>
              <a:rPr lang="en-US" dirty="0" err="1"/>
              <a:t>Pvcfat</a:t>
            </a:r>
            <a:r>
              <a:rPr lang="en-US" dirty="0"/>
              <a:t> at lower rate)</a:t>
            </a:r>
            <a:endParaRPr lang="en-IN" dirty="0"/>
          </a:p>
          <a:p>
            <a:pPr marL="914400" lvl="2" indent="0">
              <a:buNone/>
            </a:pPr>
            <a:endParaRPr lang="en-IN" dirty="0"/>
          </a:p>
        </p:txBody>
      </p:sp>
      <p:sp>
        <p:nvSpPr>
          <p:cNvPr id="4" name="Slide Number Placeholder 3">
            <a:extLst>
              <a:ext uri="{FF2B5EF4-FFF2-40B4-BE49-F238E27FC236}">
                <a16:creationId xmlns:a16="http://schemas.microsoft.com/office/drawing/2014/main" id="{C7D95E63-E68E-1B39-4E1E-A62C5D8ACF9C}"/>
              </a:ext>
            </a:extLst>
          </p:cNvPr>
          <p:cNvSpPr>
            <a:spLocks noGrp="1"/>
          </p:cNvSpPr>
          <p:nvPr>
            <p:ph type="sldNum" sz="quarter" idx="12"/>
          </p:nvPr>
        </p:nvSpPr>
        <p:spPr/>
        <p:txBody>
          <a:bodyPr/>
          <a:lstStyle/>
          <a:p>
            <a:fld id="{519954A3-9DFD-4C44-94BA-B95130A3BA1C}" type="slidenum">
              <a:rPr lang="en-US" smtClean="0"/>
              <a:pPr/>
              <a:t>40</a:t>
            </a:fld>
            <a:endParaRPr lang="en-US" dirty="0"/>
          </a:p>
        </p:txBody>
      </p:sp>
    </p:spTree>
    <p:extLst>
      <p:ext uri="{BB962C8B-B14F-4D97-AF65-F5344CB8AC3E}">
        <p14:creationId xmlns:p14="http://schemas.microsoft.com/office/powerpoint/2010/main" val="9919759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7EB66C-42EF-06B3-164D-A6C3B82983B4}"/>
              </a:ext>
            </a:extLst>
          </p:cNvPr>
          <p:cNvSpPr txBox="1"/>
          <p:nvPr/>
        </p:nvSpPr>
        <p:spPr>
          <a:xfrm>
            <a:off x="420699" y="489329"/>
            <a:ext cx="11196994" cy="5816977"/>
          </a:xfrm>
          <a:prstGeom prst="rect">
            <a:avLst/>
          </a:prstGeom>
          <a:noFill/>
        </p:spPr>
        <p:txBody>
          <a:bodyPr wrap="square">
            <a:spAutoFit/>
          </a:bodyPr>
          <a:lstStyle/>
          <a:p>
            <a:r>
              <a:rPr lang="en-IN" sz="2400" b="1" dirty="0"/>
              <a:t>Evaluation of IRR</a:t>
            </a:r>
          </a:p>
          <a:p>
            <a:endParaRPr lang="en-IN" sz="2400" b="1" dirty="0"/>
          </a:p>
          <a:p>
            <a:r>
              <a:rPr lang="en-IN" dirty="0"/>
              <a:t>The internal rate of return is compared with the cost of the capital. If the IRR is more than the cost of capital, the project is profitable, otherwise it is not. Where there are two projects with different IRRS, select the project with higher IRR.</a:t>
            </a:r>
          </a:p>
          <a:p>
            <a:endParaRPr lang="en-IN" dirty="0"/>
          </a:p>
          <a:p>
            <a:r>
              <a:rPr lang="en-IN" b="1" dirty="0"/>
              <a:t>IRR and Even Cash Flows</a:t>
            </a:r>
          </a:p>
          <a:p>
            <a:r>
              <a:rPr lang="en-IN" dirty="0"/>
              <a:t>Where cash inflows are even, it is relatively easy to compute IRR based on a factor located from the cumulative present value of Re I. </a:t>
            </a:r>
          </a:p>
          <a:p>
            <a:endParaRPr lang="en-IN" dirty="0"/>
          </a:p>
          <a:p>
            <a:r>
              <a:rPr lang="en-IN" dirty="0"/>
              <a:t>EX:</a:t>
            </a:r>
          </a:p>
          <a:p>
            <a:r>
              <a:rPr lang="en-IN" dirty="0"/>
              <a:t>A project costs Rs 1,44,000. The average annual cash inflows are likely to be Rs 45,000 for a period of 5 years. Calculate the IRR for the project.</a:t>
            </a:r>
          </a:p>
          <a:p>
            <a:endParaRPr lang="en-IN" dirty="0"/>
          </a:p>
          <a:p>
            <a:r>
              <a:rPr lang="en-IN" dirty="0"/>
              <a:t>        Factor= </a:t>
            </a:r>
            <a:r>
              <a:rPr lang="en-IN" u="sng" dirty="0"/>
              <a:t>Project cost</a:t>
            </a:r>
            <a:r>
              <a:rPr lang="en-IN" dirty="0"/>
              <a:t> </a:t>
            </a:r>
          </a:p>
          <a:p>
            <a:r>
              <a:rPr lang="en-IN" dirty="0"/>
              <a:t>	        	Annual cash inflows </a:t>
            </a:r>
          </a:p>
          <a:p>
            <a:endParaRPr lang="en-IN" dirty="0"/>
          </a:p>
          <a:p>
            <a:r>
              <a:rPr lang="en-IN" dirty="0"/>
              <a:t>		    = 1, 44000/45000 = 3.2</a:t>
            </a:r>
          </a:p>
          <a:p>
            <a:r>
              <a:rPr lang="en-IN" dirty="0"/>
              <a:t> </a:t>
            </a:r>
          </a:p>
          <a:p>
            <a:r>
              <a:rPr lang="en-IN" dirty="0"/>
              <a:t>																		</a:t>
            </a:r>
            <a:r>
              <a:rPr lang="en-IN" dirty="0" err="1"/>
              <a:t>Cont</a:t>
            </a:r>
            <a:r>
              <a:rPr lang="en-IN" dirty="0"/>
              <a:t>…..</a:t>
            </a:r>
          </a:p>
        </p:txBody>
      </p:sp>
      <p:sp>
        <p:nvSpPr>
          <p:cNvPr id="2" name="Slide Number Placeholder 1">
            <a:extLst>
              <a:ext uri="{FF2B5EF4-FFF2-40B4-BE49-F238E27FC236}">
                <a16:creationId xmlns:a16="http://schemas.microsoft.com/office/drawing/2014/main" id="{3A90374C-73CA-A393-6320-FF552360652C}"/>
              </a:ext>
            </a:extLst>
          </p:cNvPr>
          <p:cNvSpPr>
            <a:spLocks noGrp="1"/>
          </p:cNvSpPr>
          <p:nvPr>
            <p:ph type="sldNum" sz="quarter" idx="12"/>
          </p:nvPr>
        </p:nvSpPr>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8381423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5EF3F2-6384-2794-A2E2-DFC8947CAB67}"/>
              </a:ext>
            </a:extLst>
          </p:cNvPr>
          <p:cNvSpPr txBox="1"/>
          <p:nvPr/>
        </p:nvSpPr>
        <p:spPr>
          <a:xfrm>
            <a:off x="770561" y="1436135"/>
            <a:ext cx="10140593" cy="4801314"/>
          </a:xfrm>
          <a:prstGeom prst="rect">
            <a:avLst/>
          </a:prstGeom>
          <a:noFill/>
        </p:spPr>
        <p:txBody>
          <a:bodyPr wrap="square">
            <a:spAutoFit/>
          </a:bodyPr>
          <a:lstStyle/>
          <a:p>
            <a:r>
              <a:rPr lang="en-IN" dirty="0" err="1"/>
              <a:t>Cont</a:t>
            </a:r>
            <a:r>
              <a:rPr lang="en-IN" dirty="0"/>
              <a:t>….</a:t>
            </a:r>
          </a:p>
          <a:p>
            <a:endParaRPr lang="en-IN" dirty="0"/>
          </a:p>
          <a:p>
            <a:endParaRPr lang="en-IN" dirty="0"/>
          </a:p>
          <a:p>
            <a:r>
              <a:rPr lang="en-IN" dirty="0"/>
              <a:t>From the  Table  the cumulative present value of Re 1 received annually for </a:t>
            </a:r>
            <a:r>
              <a:rPr lang="en-IN" i="1" dirty="0">
                <a:solidFill>
                  <a:srgbClr val="FFC000"/>
                </a:solidFill>
              </a:rPr>
              <a:t>N</a:t>
            </a:r>
            <a:r>
              <a:rPr lang="en-IN" dirty="0"/>
              <a:t> years, find out between which rates of return, the factor 3.2 is lying. From the Table, it can be seen that 3.2 is lying between 3.274 and 3.127 the corresponding rates of return are 16 percent and 18 percent respectively. Since 3.2 is close to 16 percent, the IRR can be considered as close to 16 percent. However, the exact percentage can be determined by interpolation method</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2" name="Slide Number Placeholder 1">
            <a:extLst>
              <a:ext uri="{FF2B5EF4-FFF2-40B4-BE49-F238E27FC236}">
                <a16:creationId xmlns:a16="http://schemas.microsoft.com/office/drawing/2014/main" id="{34D8A2E9-2B7E-28E8-6E6E-2958DA13DE65}"/>
              </a:ext>
            </a:extLst>
          </p:cNvPr>
          <p:cNvSpPr>
            <a:spLocks noGrp="1"/>
          </p:cNvSpPr>
          <p:nvPr>
            <p:ph type="sldNum" sz="quarter" idx="12"/>
          </p:nvPr>
        </p:nvSpPr>
        <p:spPr/>
        <p:txBody>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34829840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5A9F6-26B3-CBDF-0FDE-E7A546FEC9AF}"/>
              </a:ext>
            </a:extLst>
          </p:cNvPr>
          <p:cNvSpPr>
            <a:spLocks noGrp="1"/>
          </p:cNvSpPr>
          <p:nvPr>
            <p:ph sz="quarter" idx="13"/>
          </p:nvPr>
        </p:nvSpPr>
        <p:spPr>
          <a:xfrm>
            <a:off x="914087" y="285293"/>
            <a:ext cx="10363826" cy="6290167"/>
          </a:xfrm>
        </p:spPr>
        <p:txBody>
          <a:bodyPr>
            <a:noAutofit/>
          </a:bodyPr>
          <a:lstStyle/>
          <a:p>
            <a:pPr marL="0" indent="0" algn="l" fontAlgn="base">
              <a:buNone/>
            </a:pPr>
            <a:r>
              <a:rPr lang="en-US" sz="1600" b="1" i="0" u="none" strike="noStrike" cap="none" dirty="0">
                <a:effectLst/>
                <a:latin typeface="Calibri" panose="020F0502020204030204" pitchFamily="34" charset="0"/>
                <a:cs typeface="Calibri" panose="020F0502020204030204" pitchFamily="34" charset="0"/>
              </a:rPr>
              <a:t>Difference between NPV and IRR:</a:t>
            </a:r>
          </a:p>
          <a:p>
            <a:pPr marL="0" indent="0" algn="l" fontAlgn="base">
              <a:buNone/>
            </a:pPr>
            <a:r>
              <a:rPr lang="en-US" sz="1600" b="1" i="0" u="none" strike="noStrike" cap="none" dirty="0">
                <a:effectLst/>
                <a:latin typeface="Calibri" panose="020F0502020204030204" pitchFamily="34" charset="0"/>
                <a:cs typeface="Calibri" panose="020F0502020204030204" pitchFamily="34" charset="0"/>
              </a:rPr>
              <a:t>1. Outcome value:</a:t>
            </a:r>
          </a:p>
          <a:p>
            <a:pPr marL="0" indent="0" algn="l" fontAlgn="base">
              <a:buNone/>
            </a:pPr>
            <a:r>
              <a:rPr lang="en-US" sz="1600" b="0" i="0" cap="none" dirty="0">
                <a:effectLst/>
                <a:latin typeface="Calibri" panose="020F0502020204030204" pitchFamily="34" charset="0"/>
                <a:cs typeface="Calibri" panose="020F0502020204030204" pitchFamily="34" charset="0"/>
              </a:rPr>
              <a:t>The net present value (NPV) technique of investment appraisal shows the estimated net value of return in monetary terms that the project would generate. It considers the discounted value of all the possible cash outflows and inflows regarding a specific project and then compares the two to get a net positive or negative cash flow known as net present value.</a:t>
            </a:r>
          </a:p>
          <a:p>
            <a:pPr marL="0" indent="0" algn="l" fontAlgn="base">
              <a:buNone/>
            </a:pPr>
            <a:r>
              <a:rPr lang="en-US" sz="1600" b="0" i="0" cap="none" dirty="0">
                <a:effectLst/>
                <a:latin typeface="Calibri" panose="020F0502020204030204" pitchFamily="34" charset="0"/>
                <a:cs typeface="Calibri" panose="020F0502020204030204" pitchFamily="34" charset="0"/>
              </a:rPr>
              <a:t>The internal rate of return (</a:t>
            </a:r>
            <a:r>
              <a:rPr lang="en-US" sz="1600" dirty="0">
                <a:latin typeface="Calibri" panose="020F0502020204030204" pitchFamily="34" charset="0"/>
                <a:cs typeface="Calibri" panose="020F0502020204030204" pitchFamily="34" charset="0"/>
              </a:rPr>
              <a:t>IRR</a:t>
            </a:r>
            <a:r>
              <a:rPr lang="en-US" sz="1600" b="0" i="0" cap="none" dirty="0">
                <a:effectLst/>
                <a:latin typeface="Calibri" panose="020F0502020204030204" pitchFamily="34" charset="0"/>
                <a:cs typeface="Calibri" panose="020F0502020204030204" pitchFamily="34" charset="0"/>
              </a:rPr>
              <a:t>) method shows the value of return for a project in percentage terms. If IRR is applied to the cash flows of a project instead of cost of capital, the NPV of the project would be zero.</a:t>
            </a:r>
          </a:p>
          <a:p>
            <a:pPr marL="0" indent="0" algn="l" fontAlgn="base">
              <a:buNone/>
            </a:pPr>
            <a:r>
              <a:rPr lang="en-US" sz="1600" b="1" i="0" u="none" strike="noStrike" cap="none" dirty="0">
                <a:effectLst/>
                <a:latin typeface="Calibri" panose="020F0502020204030204" pitchFamily="34" charset="0"/>
                <a:cs typeface="Calibri" panose="020F0502020204030204" pitchFamily="34" charset="0"/>
              </a:rPr>
              <a:t>2. Basis of decision:</a:t>
            </a:r>
          </a:p>
          <a:p>
            <a:pPr marL="0" indent="0" algn="l" fontAlgn="base">
              <a:buNone/>
            </a:pPr>
            <a:r>
              <a:rPr lang="en-US" sz="1600" b="0" i="0" cap="none" dirty="0">
                <a:effectLst/>
                <a:latin typeface="Calibri" panose="020F0502020204030204" pitchFamily="34" charset="0"/>
                <a:cs typeface="Calibri" panose="020F0502020204030204" pitchFamily="34" charset="0"/>
              </a:rPr>
              <a:t>Generally, a project is accepted if its NPV is positive or it shows surplus funds at the end of the project. However, it is possible that a project generates positive cash flows but the business is still not ready to </a:t>
            </a:r>
            <a:r>
              <a:rPr lang="en-US" sz="1600" b="0" i="0" u="none" strike="noStrike" cap="none" dirty="0">
                <a:effectLst/>
                <a:latin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accept</a:t>
            </a:r>
            <a:r>
              <a:rPr lang="en-US" sz="1600" b="0" i="0" cap="none" dirty="0">
                <a:effectLst/>
                <a:latin typeface="Calibri" panose="020F0502020204030204" pitchFamily="34" charset="0"/>
                <a:cs typeface="Calibri" panose="020F0502020204030204" pitchFamily="34" charset="0"/>
              </a:rPr>
              <a:t> it because the positive NPV does not match the NPV set by the </a:t>
            </a:r>
            <a:r>
              <a:rPr lang="en-US" sz="1600" b="0" i="0" u="none" strike="noStrike" cap="none" dirty="0">
                <a:effectLst/>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management</a:t>
            </a:r>
            <a:r>
              <a:rPr lang="en-US" sz="1600" b="0" i="0" cap="none" dirty="0">
                <a:effectLst/>
                <a:latin typeface="Calibri" panose="020F0502020204030204" pitchFamily="34" charset="0"/>
                <a:cs typeface="Calibri" panose="020F0502020204030204" pitchFamily="34" charset="0"/>
              </a:rPr>
              <a:t> of the business.</a:t>
            </a:r>
          </a:p>
          <a:p>
            <a:pPr marL="0" indent="0" algn="l" fontAlgn="base">
              <a:buNone/>
            </a:pPr>
            <a:r>
              <a:rPr lang="en-US" sz="1600" b="0" i="0" cap="none" dirty="0">
                <a:effectLst/>
                <a:latin typeface="Calibri" panose="020F0502020204030204" pitchFamily="34" charset="0"/>
                <a:cs typeface="Calibri" panose="020F0502020204030204" pitchFamily="34" charset="0"/>
              </a:rPr>
              <a:t>IRR is used to appraise the sensitivity of cost of capital which is used to appraise a project. IRR effectively shows a percentage below which NPV would start to fall negative. Therefore if IRR is greater than the cost of capital, the project is accepted and otherwise rejected.</a:t>
            </a:r>
          </a:p>
          <a:p>
            <a:pPr marL="0" indent="0" algn="l" fontAlgn="base">
              <a:buNone/>
            </a:pPr>
            <a:r>
              <a:rPr lang="en-US" sz="1600" b="1" i="0" u="none" strike="noStrike" cap="none" dirty="0">
                <a:effectLst/>
                <a:latin typeface="Calibri" panose="020F0502020204030204" pitchFamily="34" charset="0"/>
                <a:cs typeface="Calibri" panose="020F0502020204030204" pitchFamily="34" charset="0"/>
              </a:rPr>
              <a:t>3. Assumptions:</a:t>
            </a:r>
          </a:p>
          <a:p>
            <a:pPr marL="0" indent="0" algn="l" fontAlgn="base">
              <a:buNone/>
            </a:pPr>
            <a:r>
              <a:rPr lang="en-US" sz="1600" b="0" i="0" cap="none" dirty="0">
                <a:effectLst/>
                <a:latin typeface="Calibri" panose="020F0502020204030204" pitchFamily="34" charset="0"/>
                <a:cs typeface="Calibri" panose="020F0502020204030204" pitchFamily="34" charset="0"/>
              </a:rPr>
              <a:t>The NPV technique assumes that the cash inflows generated by the project are reinvested at the cost of capital of the business. This assumption is somehow realistic because the cost of capital of a business indicates the risk that a business is already facing in its investments.</a:t>
            </a:r>
          </a:p>
          <a:p>
            <a:pPr marL="0" indent="0" algn="l" fontAlgn="base">
              <a:buNone/>
            </a:pPr>
            <a:r>
              <a:rPr lang="en-US" sz="1600" b="0" i="0" cap="none" dirty="0">
                <a:effectLst/>
                <a:latin typeface="Calibri" panose="020F0502020204030204" pitchFamily="34" charset="0"/>
                <a:cs typeface="Calibri" panose="020F0502020204030204" pitchFamily="34" charset="0"/>
              </a:rPr>
              <a:t>The </a:t>
            </a:r>
            <a:r>
              <a:rPr lang="en-US" sz="1600" dirty="0">
                <a:latin typeface="Calibri" panose="020F0502020204030204" pitchFamily="34" charset="0"/>
                <a:cs typeface="Calibri" panose="020F0502020204030204" pitchFamily="34" charset="0"/>
              </a:rPr>
              <a:t>IRR</a:t>
            </a:r>
            <a:r>
              <a:rPr lang="en-US" sz="1600" b="0" i="0" cap="none" dirty="0">
                <a:effectLst/>
                <a:latin typeface="Calibri" panose="020F0502020204030204" pitchFamily="34" charset="0"/>
                <a:cs typeface="Calibri" panose="020F0502020204030204" pitchFamily="34" charset="0"/>
              </a:rPr>
              <a:t> method assumes that the cash inflows are reinvested at </a:t>
            </a:r>
            <a:r>
              <a:rPr lang="en-US" sz="1600" dirty="0">
                <a:latin typeface="Calibri" panose="020F0502020204030204" pitchFamily="34" charset="0"/>
                <a:cs typeface="Calibri" panose="020F0502020204030204" pitchFamily="34" charset="0"/>
              </a:rPr>
              <a:t>IRR</a:t>
            </a:r>
            <a:r>
              <a:rPr lang="en-US" sz="1600" b="0" i="0" cap="none" dirty="0">
                <a:effectLst/>
                <a:latin typeface="Calibri" panose="020F0502020204030204" pitchFamily="34" charset="0"/>
                <a:cs typeface="Calibri" panose="020F0502020204030204" pitchFamily="34" charset="0"/>
              </a:rPr>
              <a:t> or internal rate of return.</a:t>
            </a:r>
            <a:br>
              <a:rPr lang="en-US" sz="1600" cap="none" dirty="0">
                <a:latin typeface="Calibri" panose="020F0502020204030204" pitchFamily="34" charset="0"/>
                <a:cs typeface="Calibri" panose="020F0502020204030204" pitchFamily="34" charset="0"/>
              </a:rPr>
            </a:br>
            <a:endParaRPr lang="en-IN" sz="1600" cap="none"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09D94F8D-0F81-A8F8-5181-D230712439B6}"/>
              </a:ext>
            </a:extLst>
          </p:cNvPr>
          <p:cNvSpPr>
            <a:spLocks noGrp="1"/>
          </p:cNvSpPr>
          <p:nvPr>
            <p:ph type="sldNum" sz="quarter" idx="12"/>
          </p:nvPr>
        </p:nvSpPr>
        <p:spPr/>
        <p:txBody>
          <a:bodyPr/>
          <a:lstStyle/>
          <a:p>
            <a:fld id="{DA0FAC45-43C5-40D8-BDC6-748A3E0CC12B}" type="slidenum">
              <a:rPr lang="en-IN" smtClean="0"/>
              <a:t>43</a:t>
            </a:fld>
            <a:endParaRPr lang="en-IN"/>
          </a:p>
        </p:txBody>
      </p:sp>
    </p:spTree>
    <p:extLst>
      <p:ext uri="{BB962C8B-B14F-4D97-AF65-F5344CB8AC3E}">
        <p14:creationId xmlns:p14="http://schemas.microsoft.com/office/powerpoint/2010/main" val="25297984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53B30D-A161-DF84-E2D9-FE4D3B307E18}"/>
              </a:ext>
            </a:extLst>
          </p:cNvPr>
          <p:cNvSpPr txBox="1"/>
          <p:nvPr/>
        </p:nvSpPr>
        <p:spPr>
          <a:xfrm>
            <a:off x="646111" y="623473"/>
            <a:ext cx="8406829" cy="369332"/>
          </a:xfrm>
          <a:prstGeom prst="rect">
            <a:avLst/>
          </a:prstGeom>
          <a:noFill/>
        </p:spPr>
        <p:txBody>
          <a:bodyPr wrap="square">
            <a:spAutoFit/>
          </a:bodyPr>
          <a:lstStyle/>
          <a:p>
            <a:endParaRPr lang="en-US" dirty="0"/>
          </a:p>
        </p:txBody>
      </p:sp>
      <p:sp>
        <p:nvSpPr>
          <p:cNvPr id="2" name="Title 1">
            <a:extLst>
              <a:ext uri="{FF2B5EF4-FFF2-40B4-BE49-F238E27FC236}">
                <a16:creationId xmlns:a16="http://schemas.microsoft.com/office/drawing/2014/main" id="{61F4CF8B-41DD-E0B0-980E-CCFEA20FFDE9}"/>
              </a:ext>
            </a:extLst>
          </p:cNvPr>
          <p:cNvSpPr>
            <a:spLocks noGrp="1"/>
          </p:cNvSpPr>
          <p:nvPr>
            <p:ph type="title"/>
          </p:nvPr>
        </p:nvSpPr>
        <p:spPr/>
        <p:txBody>
          <a:bodyPr/>
          <a:lstStyle/>
          <a:p>
            <a:r>
              <a:rPr lang="en-IN" dirty="0"/>
              <a:t>NPV Vs IRR</a:t>
            </a:r>
          </a:p>
        </p:txBody>
      </p:sp>
      <p:sp>
        <p:nvSpPr>
          <p:cNvPr id="3" name="Content Placeholder 2">
            <a:extLst>
              <a:ext uri="{FF2B5EF4-FFF2-40B4-BE49-F238E27FC236}">
                <a16:creationId xmlns:a16="http://schemas.microsoft.com/office/drawing/2014/main" id="{A66FCD1F-4DC4-3F6A-9D5E-560A4C2D5CFF}"/>
              </a:ext>
            </a:extLst>
          </p:cNvPr>
          <p:cNvSpPr>
            <a:spLocks noGrp="1"/>
          </p:cNvSpPr>
          <p:nvPr>
            <p:ph idx="1"/>
          </p:nvPr>
        </p:nvSpPr>
        <p:spPr>
          <a:xfrm>
            <a:off x="875201" y="1549284"/>
            <a:ext cx="8946541" cy="4195481"/>
          </a:xfrm>
        </p:spPr>
        <p:txBody>
          <a:bodyPr>
            <a:normAutofit/>
          </a:bodyPr>
          <a:lstStyle/>
          <a:p>
            <a:pPr marL="0" indent="0">
              <a:buNone/>
            </a:pP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NPV is the difference between the present value of cash inflows and the present value of cash outflows over a period of time. By contrast, the internal rate of return (IRR) is a calculation used to estimate the profitability of potential investments.</a:t>
            </a:r>
          </a:p>
          <a:p>
            <a:endParaRPr lang="en-IN" dirty="0"/>
          </a:p>
        </p:txBody>
      </p:sp>
      <p:sp>
        <p:nvSpPr>
          <p:cNvPr id="4" name="Slide Number Placeholder 3">
            <a:extLst>
              <a:ext uri="{FF2B5EF4-FFF2-40B4-BE49-F238E27FC236}">
                <a16:creationId xmlns:a16="http://schemas.microsoft.com/office/drawing/2014/main" id="{09356C21-3416-F675-860E-1DEA032C87B9}"/>
              </a:ext>
            </a:extLst>
          </p:cNvPr>
          <p:cNvSpPr>
            <a:spLocks noGrp="1"/>
          </p:cNvSpPr>
          <p:nvPr>
            <p:ph type="sldNum" sz="quarter" idx="12"/>
          </p:nvPr>
        </p:nvSpPr>
        <p:spPr/>
        <p:txBody>
          <a:bodyPr/>
          <a:lstStyle/>
          <a:p>
            <a:fld id="{519954A3-9DFD-4C44-94BA-B95130A3BA1C}" type="slidenum">
              <a:rPr lang="en-US" smtClean="0"/>
              <a:pPr/>
              <a:t>44</a:t>
            </a:fld>
            <a:endParaRPr lang="en-US" dirty="0"/>
          </a:p>
        </p:txBody>
      </p:sp>
    </p:spTree>
    <p:extLst>
      <p:ext uri="{BB962C8B-B14F-4D97-AF65-F5344CB8AC3E}">
        <p14:creationId xmlns:p14="http://schemas.microsoft.com/office/powerpoint/2010/main" val="3189782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73222-D4D8-39F6-FA97-CDFE29037277}"/>
              </a:ext>
            </a:extLst>
          </p:cNvPr>
          <p:cNvSpPr>
            <a:spLocks noGrp="1"/>
          </p:cNvSpPr>
          <p:nvPr>
            <p:ph type="title"/>
          </p:nvPr>
        </p:nvSpPr>
        <p:spPr>
          <a:xfrm>
            <a:off x="646111" y="452718"/>
            <a:ext cx="9404723" cy="914069"/>
          </a:xfrm>
        </p:spPr>
        <p:txBody>
          <a:bodyPr/>
          <a:lstStyle/>
          <a:p>
            <a:r>
              <a:rPr kumimoji="0" lang="en-US" altLang="en-US" sz="4400"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Profitability Index</a:t>
            </a:r>
            <a:endParaRPr lang="en-IN" dirty="0"/>
          </a:p>
        </p:txBody>
      </p:sp>
      <p:sp>
        <p:nvSpPr>
          <p:cNvPr id="4" name="Rectangle 1">
            <a:extLst>
              <a:ext uri="{FF2B5EF4-FFF2-40B4-BE49-F238E27FC236}">
                <a16:creationId xmlns:a16="http://schemas.microsoft.com/office/drawing/2014/main" id="{D6B4C59F-0428-1E57-5380-B7B0BE7ADEA2}"/>
              </a:ext>
            </a:extLst>
          </p:cNvPr>
          <p:cNvSpPr>
            <a:spLocks noGrp="1" noChangeArrowheads="1"/>
          </p:cNvSpPr>
          <p:nvPr>
            <p:ph idx="1"/>
          </p:nvPr>
        </p:nvSpPr>
        <p:spPr bwMode="auto">
          <a:xfrm>
            <a:off x="952900" y="1152983"/>
            <a:ext cx="9548261" cy="5534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rgbClr val="0C4E54"/>
              </a:solidFill>
              <a:effectLst/>
              <a:latin typeface="Poppins" panose="000005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Profitability index shows the relationship between company projects future cash inflows and initial investment(Present value of cash outflows)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 by calculating the ratio and analyzing the project viability and it is calculated by one plus dividing the present value of cash flows by initial investment and it is also known as profit investment ratio as it analyses the profit of the project.</a:t>
            </a:r>
          </a:p>
          <a:p>
            <a:pPr algn="l"/>
            <a:r>
              <a:rPr lang="en-US" sz="2400" b="1" i="0" dirty="0">
                <a:effectLst/>
                <a:latin typeface="Times New Roman" panose="02020603050405020304" pitchFamily="18" charset="0"/>
                <a:ea typeface="Calibri" panose="020F0502020204030204" pitchFamily="34" charset="0"/>
                <a:cs typeface="Times New Roman" panose="02020603050405020304" pitchFamily="18" charset="0"/>
              </a:rPr>
              <a:t>Profitability Index = </a:t>
            </a:r>
            <a:r>
              <a:rPr lang="en-US" sz="2400" i="0" u="sng" dirty="0">
                <a:effectLst/>
                <a:latin typeface="Times New Roman" panose="02020603050405020304" pitchFamily="18" charset="0"/>
                <a:ea typeface="Calibri" panose="020F0502020204030204" pitchFamily="34" charset="0"/>
                <a:cs typeface="Times New Roman" panose="02020603050405020304" pitchFamily="18" charset="0"/>
              </a:rPr>
              <a:t>sum of </a:t>
            </a:r>
            <a:r>
              <a:rPr lang="en-US" sz="1800" i="0" u="sng" dirty="0">
                <a:effectLst/>
                <a:latin typeface="Times New Roman" panose="02020603050405020304" pitchFamily="18" charset="0"/>
                <a:ea typeface="Calibri" panose="020F0502020204030204" pitchFamily="34" charset="0"/>
                <a:cs typeface="Times New Roman" panose="02020603050405020304" pitchFamily="18" charset="0"/>
              </a:rPr>
              <a:t>Present Value of Future Cash Inflows</a:t>
            </a:r>
            <a:r>
              <a:rPr lang="en-US" sz="2400" b="1" i="0" dirty="0">
                <a:effectLst/>
                <a:latin typeface="Times New Roman" panose="02020603050405020304" pitchFamily="18" charset="0"/>
                <a:ea typeface="Calibri" panose="020F0502020204030204" pitchFamily="34" charset="0"/>
                <a:cs typeface="Times New Roman" panose="02020603050405020304" pitchFamily="18" charset="0"/>
              </a:rPr>
              <a:t> </a:t>
            </a:r>
          </a:p>
          <a:p>
            <a:pPr marL="2743200" lvl="6" indent="0">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	sum of Present value of cash outflows</a:t>
            </a:r>
            <a:endParaRPr lang="en-US" sz="1800" i="0" dirty="0">
              <a:effectLst/>
              <a:latin typeface="Times New Roman" panose="02020603050405020304" pitchFamily="18" charset="0"/>
              <a:ea typeface="Calibri" panose="020F0502020204030204" pitchFamily="34" charset="0"/>
              <a:cs typeface="Times New Roman" panose="02020603050405020304" pitchFamily="18" charset="0"/>
            </a:endParaRPr>
          </a:p>
          <a:p>
            <a:pPr marL="2743200" lvl="6" indent="0">
              <a:buNone/>
            </a:pPr>
            <a:endParaRPr lang="en-US" sz="1800" b="0" i="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br>
              <a:rPr lang="en-US" dirty="0">
                <a:latin typeface="Calibri" panose="020F0502020204030204" pitchFamily="34" charset="0"/>
                <a:ea typeface="Calibri" panose="020F0502020204030204" pitchFamily="34" charset="0"/>
                <a:cs typeface="Calibri" panose="020F0502020204030204" pitchFamily="34" charset="0"/>
              </a:rPr>
            </a:br>
            <a:br>
              <a:rPr lang="en-US" sz="1600" dirty="0"/>
            </a:b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lide Number Placeholder 2">
            <a:extLst>
              <a:ext uri="{FF2B5EF4-FFF2-40B4-BE49-F238E27FC236}">
                <a16:creationId xmlns:a16="http://schemas.microsoft.com/office/drawing/2014/main" id="{6A5A30E7-9C7F-5E0B-4997-63B658E9A8A4}"/>
              </a:ext>
            </a:extLst>
          </p:cNvPr>
          <p:cNvSpPr>
            <a:spLocks noGrp="1"/>
          </p:cNvSpPr>
          <p:nvPr>
            <p:ph type="sldNum" sz="quarter" idx="12"/>
          </p:nvPr>
        </p:nvSpPr>
        <p:spPr/>
        <p:txBody>
          <a:bodyPr/>
          <a:lstStyle/>
          <a:p>
            <a:fld id="{519954A3-9DFD-4C44-94BA-B95130A3BA1C}" type="slidenum">
              <a:rPr lang="en-US" smtClean="0"/>
              <a:pPr/>
              <a:t>45</a:t>
            </a:fld>
            <a:endParaRPr lang="en-US" dirty="0"/>
          </a:p>
        </p:txBody>
      </p:sp>
    </p:spTree>
    <p:extLst>
      <p:ext uri="{BB962C8B-B14F-4D97-AF65-F5344CB8AC3E}">
        <p14:creationId xmlns:p14="http://schemas.microsoft.com/office/powerpoint/2010/main" val="430488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1680"/>
          </a:xfrm>
        </p:spPr>
        <p:txBody>
          <a:bodyPr/>
          <a:lstStyle/>
          <a:p>
            <a:r>
              <a:rPr lang="en-US" dirty="0"/>
              <a:t>Profitability Index</a:t>
            </a:r>
            <a:endParaRPr lang="en-IN" dirty="0"/>
          </a:p>
        </p:txBody>
      </p:sp>
      <p:sp>
        <p:nvSpPr>
          <p:cNvPr id="3" name="Content Placeholder 2"/>
          <p:cNvSpPr>
            <a:spLocks noGrp="1"/>
          </p:cNvSpPr>
          <p:nvPr>
            <p:ph idx="1"/>
          </p:nvPr>
        </p:nvSpPr>
        <p:spPr>
          <a:xfrm>
            <a:off x="677334" y="1747520"/>
            <a:ext cx="9248986" cy="4825999"/>
          </a:xfrm>
        </p:spPr>
        <p:txBody>
          <a:bodyPr>
            <a:normAutofit lnSpcReduction="10000"/>
          </a:bodyPr>
          <a:lstStyle/>
          <a:p>
            <a:pPr algn="just"/>
            <a:r>
              <a:rPr lang="en-IN" sz="2400" dirty="0"/>
              <a:t>This is the ratio of the present value of cash inflows and the present value of cash outflows. It is used to indicate the profitability at a glance. </a:t>
            </a:r>
          </a:p>
          <a:p>
            <a:pPr algn="just"/>
            <a:r>
              <a:rPr lang="en-IN" sz="2400" dirty="0"/>
              <a:t>Where the projects differ in their duration and the cash flows these can be compared based on the profitability index. </a:t>
            </a:r>
          </a:p>
          <a:p>
            <a:pPr marL="0" indent="0" algn="just">
              <a:buNone/>
            </a:pPr>
            <a:r>
              <a:rPr lang="en-IN" sz="2400" b="1" u="sng" dirty="0"/>
              <a:t>INTERPRETATIONS</a:t>
            </a:r>
            <a:r>
              <a:rPr lang="en-IN" sz="2400" b="1" dirty="0"/>
              <a:t> </a:t>
            </a:r>
            <a:endParaRPr lang="en-IN" sz="2400" b="1" u="sng" dirty="0"/>
          </a:p>
          <a:p>
            <a:pPr algn="just"/>
            <a:r>
              <a:rPr lang="en-IN" sz="2400" dirty="0"/>
              <a:t>If the profitability index is less than one reject the proposal. </a:t>
            </a:r>
          </a:p>
          <a:p>
            <a:pPr algn="just"/>
            <a:r>
              <a:rPr lang="en-IN" sz="2400" dirty="0"/>
              <a:t>If the profitability index is equal to one, the proposal is just break eve. </a:t>
            </a:r>
          </a:p>
          <a:p>
            <a:pPr algn="just"/>
            <a:r>
              <a:rPr lang="en-IN" sz="2400" dirty="0"/>
              <a:t>If the profitability is more than one accept the proposal. </a:t>
            </a:r>
          </a:p>
          <a:p>
            <a:pPr algn="just"/>
            <a:r>
              <a:rPr lang="en-IN" sz="2400" dirty="0"/>
              <a:t>The higher the index, the more profitable the proposal is  </a:t>
            </a:r>
          </a:p>
          <a:p>
            <a:pPr algn="just"/>
            <a:endParaRPr lang="en-IN" sz="2000" dirty="0"/>
          </a:p>
          <a:p>
            <a:endParaRPr lang="en-IN" dirty="0"/>
          </a:p>
        </p:txBody>
      </p:sp>
    </p:spTree>
    <p:extLst>
      <p:ext uri="{BB962C8B-B14F-4D97-AF65-F5344CB8AC3E}">
        <p14:creationId xmlns:p14="http://schemas.microsoft.com/office/powerpoint/2010/main" val="29184183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7FB80-EEB9-0FE7-3ADD-C723574DFC6F}"/>
              </a:ext>
            </a:extLst>
          </p:cNvPr>
          <p:cNvSpPr>
            <a:spLocks noGrp="1"/>
          </p:cNvSpPr>
          <p:nvPr>
            <p:ph type="title"/>
          </p:nvPr>
        </p:nvSpPr>
        <p:spPr/>
        <p:txBody>
          <a:bodyPr/>
          <a:lstStyle/>
          <a:p>
            <a:r>
              <a:rPr lang="en-IN" dirty="0"/>
              <a:t>Problem on Profitability Index</a:t>
            </a:r>
          </a:p>
        </p:txBody>
      </p:sp>
      <p:sp>
        <p:nvSpPr>
          <p:cNvPr id="3" name="Content Placeholder 2">
            <a:extLst>
              <a:ext uri="{FF2B5EF4-FFF2-40B4-BE49-F238E27FC236}">
                <a16:creationId xmlns:a16="http://schemas.microsoft.com/office/drawing/2014/main" id="{3CF5017B-EAA1-84AF-C3A7-2CBE6BAF05CC}"/>
              </a:ext>
            </a:extLst>
          </p:cNvPr>
          <p:cNvSpPr>
            <a:spLocks noGrp="1"/>
          </p:cNvSpPr>
          <p:nvPr>
            <p:ph idx="1"/>
          </p:nvPr>
        </p:nvSpPr>
        <p:spPr>
          <a:xfrm>
            <a:off x="1030972" y="1417185"/>
            <a:ext cx="10514917" cy="4840839"/>
          </a:xfrm>
        </p:spPr>
        <p:txBody>
          <a:bodyPr>
            <a:normAutofit fontScale="77500" lnSpcReduction="20000"/>
          </a:bodyPr>
          <a:lstStyle/>
          <a:p>
            <a:pPr marL="0" indent="0">
              <a:buNone/>
            </a:pPr>
            <a:r>
              <a:rPr lang="en-US" dirty="0"/>
              <a:t> Calculate the profitability index for the project particulars given</a:t>
            </a:r>
          </a:p>
          <a:p>
            <a:pPr marL="0" indent="0">
              <a:buNone/>
            </a:pPr>
            <a:r>
              <a:rPr lang="en-US" dirty="0"/>
              <a:t>A firm has many projects. It wants to earn at least 6 % pa on this project with the following cash flows.</a:t>
            </a:r>
          </a:p>
          <a:p>
            <a:pPr marL="0" indent="0">
              <a:buNone/>
            </a:pPr>
            <a:endParaRPr lang="en-US" dirty="0"/>
          </a:p>
          <a:p>
            <a:pPr marL="0" indent="0">
              <a:buNone/>
            </a:pPr>
            <a:endParaRPr lang="en-US" dirty="0"/>
          </a:p>
          <a:p>
            <a:pPr marL="0" indent="0">
              <a:buNone/>
            </a:pPr>
            <a:r>
              <a:rPr lang="en-US" dirty="0"/>
              <a:t> </a:t>
            </a:r>
          </a:p>
          <a:p>
            <a:pPr marL="0" indent="0">
              <a:buNone/>
            </a:pPr>
            <a:endParaRPr lang="en-US" dirty="0"/>
          </a:p>
          <a:p>
            <a:pPr marL="0" indent="0">
              <a:buNone/>
            </a:pPr>
            <a:endParaRPr lang="en-US" dirty="0"/>
          </a:p>
          <a:p>
            <a:pPr marL="0" indent="0">
              <a:buNone/>
            </a:pPr>
            <a:endParaRPr lang="en-US"/>
          </a:p>
          <a:p>
            <a:pPr marL="0" indent="0">
              <a:buNone/>
            </a:pPr>
            <a:r>
              <a:rPr lang="en-US"/>
              <a:t>The </a:t>
            </a:r>
            <a:r>
              <a:rPr lang="en-US" dirty="0"/>
              <a:t>sum of present values of cash inflows= Rs  1,57,070</a:t>
            </a:r>
          </a:p>
          <a:p>
            <a:pPr marL="0" indent="0">
              <a:buNone/>
            </a:pPr>
            <a:r>
              <a:rPr lang="en-US" dirty="0"/>
              <a:t> The sum of present values of cash outflows = Rs 1,38,860 </a:t>
            </a:r>
          </a:p>
          <a:p>
            <a:pPr marL="0" indent="0">
              <a:buNone/>
            </a:pPr>
            <a:r>
              <a:rPr lang="en-US" dirty="0"/>
              <a:t>Profitability Index= </a:t>
            </a:r>
            <a:r>
              <a:rPr lang="en-US" u="sng" dirty="0"/>
              <a:t>Sum of present value of cash inflows</a:t>
            </a:r>
          </a:p>
          <a:p>
            <a:pPr marL="0" indent="0">
              <a:buNone/>
            </a:pPr>
            <a:r>
              <a:rPr lang="en-US" dirty="0"/>
              <a:t>					 Sum of present value of cash outflows </a:t>
            </a:r>
          </a:p>
          <a:p>
            <a:pPr marL="0" indent="0">
              <a:buNone/>
            </a:pPr>
            <a:r>
              <a:rPr lang="en-US" dirty="0"/>
              <a:t>= (1, 57,070)/(138860) = 1.32</a:t>
            </a:r>
          </a:p>
          <a:p>
            <a:pPr marL="0" indent="0">
              <a:buNone/>
            </a:pPr>
            <a:r>
              <a:rPr lang="en-US" dirty="0"/>
              <a:t>The profitability index of 1.32 shows that the proposal is profitable</a:t>
            </a:r>
          </a:p>
          <a:p>
            <a:pPr marL="0" indent="0">
              <a:buNone/>
            </a:pPr>
            <a:r>
              <a:rPr lang="en-US" dirty="0"/>
              <a:t> (as it is more than one) and can be accepted</a:t>
            </a:r>
            <a:endParaRPr lang="en-IN" dirty="0"/>
          </a:p>
        </p:txBody>
      </p:sp>
      <p:sp>
        <p:nvSpPr>
          <p:cNvPr id="4" name="Slide Number Placeholder 3">
            <a:extLst>
              <a:ext uri="{FF2B5EF4-FFF2-40B4-BE49-F238E27FC236}">
                <a16:creationId xmlns:a16="http://schemas.microsoft.com/office/drawing/2014/main" id="{CE1530E7-C31D-E7C9-3214-5EBDC2BD0E48}"/>
              </a:ext>
            </a:extLst>
          </p:cNvPr>
          <p:cNvSpPr>
            <a:spLocks noGrp="1"/>
          </p:cNvSpPr>
          <p:nvPr>
            <p:ph type="sldNum" sz="quarter" idx="12"/>
          </p:nvPr>
        </p:nvSpPr>
        <p:spPr/>
        <p:txBody>
          <a:bodyPr/>
          <a:lstStyle/>
          <a:p>
            <a:fld id="{519954A3-9DFD-4C44-94BA-B95130A3BA1C}" type="slidenum">
              <a:rPr lang="en-US" smtClean="0"/>
              <a:pPr/>
              <a:t>47</a:t>
            </a:fld>
            <a:endParaRPr lang="en-US" dirty="0"/>
          </a:p>
        </p:txBody>
      </p:sp>
      <p:graphicFrame>
        <p:nvGraphicFramePr>
          <p:cNvPr id="6" name="Table 5">
            <a:extLst>
              <a:ext uri="{FF2B5EF4-FFF2-40B4-BE49-F238E27FC236}">
                <a16:creationId xmlns:a16="http://schemas.microsoft.com/office/drawing/2014/main" id="{B990C7AD-C09A-EB41-1C1E-151FF5668784}"/>
              </a:ext>
            </a:extLst>
          </p:cNvPr>
          <p:cNvGraphicFramePr>
            <a:graphicFrameLocks noGrp="1"/>
          </p:cNvGraphicFramePr>
          <p:nvPr>
            <p:extLst>
              <p:ext uri="{D42A27DB-BD31-4B8C-83A1-F6EECF244321}">
                <p14:modId xmlns:p14="http://schemas.microsoft.com/office/powerpoint/2010/main" val="1807746544"/>
              </p:ext>
            </p:extLst>
          </p:nvPr>
        </p:nvGraphicFramePr>
        <p:xfrm>
          <a:off x="1030971" y="2382043"/>
          <a:ext cx="9961080" cy="1381760"/>
        </p:xfrm>
        <a:graphic>
          <a:graphicData uri="http://schemas.openxmlformats.org/drawingml/2006/table">
            <a:tbl>
              <a:tblPr firstRow="1" bandRow="1">
                <a:tableStyleId>{5C22544A-7EE6-4342-B048-85BDC9FD1C3A}</a:tableStyleId>
              </a:tblPr>
              <a:tblGrid>
                <a:gridCol w="1644852">
                  <a:extLst>
                    <a:ext uri="{9D8B030D-6E8A-4147-A177-3AD203B41FA5}">
                      <a16:colId xmlns:a16="http://schemas.microsoft.com/office/drawing/2014/main" val="3472854956"/>
                    </a:ext>
                  </a:extLst>
                </a:gridCol>
                <a:gridCol w="1174282">
                  <a:extLst>
                    <a:ext uri="{9D8B030D-6E8A-4147-A177-3AD203B41FA5}">
                      <a16:colId xmlns:a16="http://schemas.microsoft.com/office/drawing/2014/main" val="4140292841"/>
                    </a:ext>
                  </a:extLst>
                </a:gridCol>
                <a:gridCol w="1289786">
                  <a:extLst>
                    <a:ext uri="{9D8B030D-6E8A-4147-A177-3AD203B41FA5}">
                      <a16:colId xmlns:a16="http://schemas.microsoft.com/office/drawing/2014/main" val="63511034"/>
                    </a:ext>
                  </a:extLst>
                </a:gridCol>
                <a:gridCol w="1135781">
                  <a:extLst>
                    <a:ext uri="{9D8B030D-6E8A-4147-A177-3AD203B41FA5}">
                      <a16:colId xmlns:a16="http://schemas.microsoft.com/office/drawing/2014/main" val="1217764871"/>
                    </a:ext>
                  </a:extLst>
                </a:gridCol>
                <a:gridCol w="1174282">
                  <a:extLst>
                    <a:ext uri="{9D8B030D-6E8A-4147-A177-3AD203B41FA5}">
                      <a16:colId xmlns:a16="http://schemas.microsoft.com/office/drawing/2014/main" val="3580183653"/>
                    </a:ext>
                  </a:extLst>
                </a:gridCol>
                <a:gridCol w="1051827">
                  <a:extLst>
                    <a:ext uri="{9D8B030D-6E8A-4147-A177-3AD203B41FA5}">
                      <a16:colId xmlns:a16="http://schemas.microsoft.com/office/drawing/2014/main" val="384386428"/>
                    </a:ext>
                  </a:extLst>
                </a:gridCol>
                <a:gridCol w="1245135">
                  <a:extLst>
                    <a:ext uri="{9D8B030D-6E8A-4147-A177-3AD203B41FA5}">
                      <a16:colId xmlns:a16="http://schemas.microsoft.com/office/drawing/2014/main" val="1889889146"/>
                    </a:ext>
                  </a:extLst>
                </a:gridCol>
                <a:gridCol w="1245135">
                  <a:extLst>
                    <a:ext uri="{9D8B030D-6E8A-4147-A177-3AD203B41FA5}">
                      <a16:colId xmlns:a16="http://schemas.microsoft.com/office/drawing/2014/main" val="3912498419"/>
                    </a:ext>
                  </a:extLst>
                </a:gridCol>
              </a:tblGrid>
              <a:tr h="370840">
                <a:tc>
                  <a:txBody>
                    <a:bodyPr/>
                    <a:lstStyle/>
                    <a:p>
                      <a:r>
                        <a:rPr lang="en-IN" dirty="0"/>
                        <a:t>Year</a:t>
                      </a:r>
                    </a:p>
                  </a:txBody>
                  <a:tcPr/>
                </a:tc>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tc>
                  <a:txBody>
                    <a:bodyPr/>
                    <a:lstStyle/>
                    <a:p>
                      <a:r>
                        <a:rPr lang="en-IN" dirty="0"/>
                        <a:t>6</a:t>
                      </a:r>
                    </a:p>
                  </a:txBody>
                  <a:tcPr/>
                </a:tc>
                <a:extLst>
                  <a:ext uri="{0D108BD9-81ED-4DB2-BD59-A6C34878D82A}">
                    <a16:rowId xmlns:a16="http://schemas.microsoft.com/office/drawing/2014/main" val="1772855189"/>
                  </a:ext>
                </a:extLst>
              </a:tr>
              <a:tr h="370840">
                <a:tc>
                  <a:txBody>
                    <a:bodyPr/>
                    <a:lstStyle/>
                    <a:p>
                      <a:r>
                        <a:rPr lang="en-IN" dirty="0"/>
                        <a:t>Cash inflows</a:t>
                      </a:r>
                    </a:p>
                  </a:txBody>
                  <a:tcPr/>
                </a:tc>
                <a:tc>
                  <a:txBody>
                    <a:bodyPr/>
                    <a:lstStyle/>
                    <a:p>
                      <a:endParaRPr lang="en-IN" dirty="0"/>
                    </a:p>
                  </a:txBody>
                  <a:tcPr/>
                </a:tc>
                <a:tc>
                  <a:txBody>
                    <a:bodyPr/>
                    <a:lstStyle/>
                    <a:p>
                      <a:endParaRPr lang="en-IN"/>
                    </a:p>
                  </a:txBody>
                  <a:tcPr/>
                </a:tc>
                <a:tc>
                  <a:txBody>
                    <a:bodyPr/>
                    <a:lstStyle/>
                    <a:p>
                      <a:r>
                        <a:rPr lang="en-IN" dirty="0"/>
                        <a:t>30000</a:t>
                      </a:r>
                    </a:p>
                  </a:txBody>
                  <a:tcPr/>
                </a:tc>
                <a:tc>
                  <a:txBody>
                    <a:bodyPr/>
                    <a:lstStyle/>
                    <a:p>
                      <a:r>
                        <a:rPr lang="en-IN" dirty="0"/>
                        <a:t>40000</a:t>
                      </a:r>
                    </a:p>
                  </a:txBody>
                  <a:tcPr/>
                </a:tc>
                <a:tc>
                  <a:txBody>
                    <a:bodyPr/>
                    <a:lstStyle/>
                    <a:p>
                      <a:r>
                        <a:rPr lang="en-IN" dirty="0"/>
                        <a:t>40000</a:t>
                      </a:r>
                    </a:p>
                  </a:txBody>
                  <a:tcPr/>
                </a:tc>
                <a:tc>
                  <a:txBody>
                    <a:bodyPr/>
                    <a:lstStyle/>
                    <a:p>
                      <a:r>
                        <a:rPr lang="en-IN" dirty="0"/>
                        <a:t>40000</a:t>
                      </a:r>
                    </a:p>
                  </a:txBody>
                  <a:tcPr/>
                </a:tc>
                <a:tc>
                  <a:txBody>
                    <a:bodyPr/>
                    <a:lstStyle/>
                    <a:p>
                      <a:r>
                        <a:rPr lang="en-IN" dirty="0"/>
                        <a:t>50000</a:t>
                      </a:r>
                    </a:p>
                  </a:txBody>
                  <a:tcPr/>
                </a:tc>
                <a:extLst>
                  <a:ext uri="{0D108BD9-81ED-4DB2-BD59-A6C34878D82A}">
                    <a16:rowId xmlns:a16="http://schemas.microsoft.com/office/drawing/2014/main" val="424284483"/>
                  </a:ext>
                </a:extLst>
              </a:tr>
              <a:tr h="370840">
                <a:tc>
                  <a:txBody>
                    <a:bodyPr/>
                    <a:lstStyle/>
                    <a:p>
                      <a:r>
                        <a:rPr lang="en-IN" dirty="0"/>
                        <a:t>Cash Outflows</a:t>
                      </a:r>
                    </a:p>
                  </a:txBody>
                  <a:tcPr/>
                </a:tc>
                <a:tc>
                  <a:txBody>
                    <a:bodyPr/>
                    <a:lstStyle/>
                    <a:p>
                      <a:r>
                        <a:rPr lang="en-IN" dirty="0"/>
                        <a:t>100000</a:t>
                      </a:r>
                    </a:p>
                  </a:txBody>
                  <a:tcPr/>
                </a:tc>
                <a:tc>
                  <a:txBody>
                    <a:bodyPr/>
                    <a:lstStyle/>
                    <a:p>
                      <a:r>
                        <a:rPr lang="en-IN" dirty="0"/>
                        <a:t>20000</a:t>
                      </a:r>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412809426"/>
                  </a:ext>
                </a:extLst>
              </a:tr>
            </a:tbl>
          </a:graphicData>
        </a:graphic>
      </p:graphicFrame>
    </p:spTree>
    <p:extLst>
      <p:ext uri="{BB962C8B-B14F-4D97-AF65-F5344CB8AC3E}">
        <p14:creationId xmlns:p14="http://schemas.microsoft.com/office/powerpoint/2010/main" val="13754484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6ED489AD-6083-C70E-A3C5-5C6E424B66C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3167" b="3423"/>
          <a:stretch/>
        </p:blipFill>
        <p:spPr>
          <a:xfrm>
            <a:off x="400819" y="1771047"/>
            <a:ext cx="10789919" cy="2569945"/>
          </a:xfrm>
        </p:spPr>
      </p:pic>
      <p:sp>
        <p:nvSpPr>
          <p:cNvPr id="4" name="Slide Number Placeholder 3">
            <a:extLst>
              <a:ext uri="{FF2B5EF4-FFF2-40B4-BE49-F238E27FC236}">
                <a16:creationId xmlns:a16="http://schemas.microsoft.com/office/drawing/2014/main" id="{B9C4A2CA-9017-9B5B-DA44-7BD739577416}"/>
              </a:ext>
            </a:extLst>
          </p:cNvPr>
          <p:cNvSpPr>
            <a:spLocks noGrp="1"/>
          </p:cNvSpPr>
          <p:nvPr>
            <p:ph type="sldNum" sz="quarter" idx="12"/>
          </p:nvPr>
        </p:nvSpPr>
        <p:spPr/>
        <p:txBody>
          <a:bodyPr/>
          <a:lstStyle/>
          <a:p>
            <a:fld id="{519954A3-9DFD-4C44-94BA-B95130A3BA1C}" type="slidenum">
              <a:rPr lang="en-US" smtClean="0"/>
              <a:pPr/>
              <a:t>48</a:t>
            </a:fld>
            <a:endParaRPr lang="en-US" dirty="0"/>
          </a:p>
        </p:txBody>
      </p:sp>
      <p:pic>
        <p:nvPicPr>
          <p:cNvPr id="8" name="Picture 7">
            <a:extLst>
              <a:ext uri="{FF2B5EF4-FFF2-40B4-BE49-F238E27FC236}">
                <a16:creationId xmlns:a16="http://schemas.microsoft.com/office/drawing/2014/main" id="{95CB39FF-27C2-B0E1-1957-1C5B3463D4CA}"/>
              </a:ext>
            </a:extLst>
          </p:cNvPr>
          <p:cNvPicPr>
            <a:picLocks noChangeAspect="1"/>
          </p:cNvPicPr>
          <p:nvPr/>
        </p:nvPicPr>
        <p:blipFill rotWithShape="1">
          <a:blip r:embed="rId3">
            <a:extLst>
              <a:ext uri="{28A0092B-C50C-407E-A947-70E740481C1C}">
                <a14:useLocalDpi xmlns:a14="http://schemas.microsoft.com/office/drawing/2010/main" val="0"/>
              </a:ext>
            </a:extLst>
          </a:blip>
          <a:srcRect t="11214" r="3776"/>
          <a:stretch/>
        </p:blipFill>
        <p:spPr>
          <a:xfrm>
            <a:off x="400820" y="4340992"/>
            <a:ext cx="10789919" cy="2357411"/>
          </a:xfrm>
          <a:prstGeom prst="rect">
            <a:avLst/>
          </a:prstGeom>
        </p:spPr>
      </p:pic>
      <p:sp>
        <p:nvSpPr>
          <p:cNvPr id="9" name="TextBox 8">
            <a:extLst>
              <a:ext uri="{FF2B5EF4-FFF2-40B4-BE49-F238E27FC236}">
                <a16:creationId xmlns:a16="http://schemas.microsoft.com/office/drawing/2014/main" id="{BB9E0AE1-DA71-3934-3BD7-1716E2F6BBAE}"/>
              </a:ext>
            </a:extLst>
          </p:cNvPr>
          <p:cNvSpPr txBox="1"/>
          <p:nvPr/>
        </p:nvSpPr>
        <p:spPr>
          <a:xfrm>
            <a:off x="1001261" y="433137"/>
            <a:ext cx="8027236" cy="369332"/>
          </a:xfrm>
          <a:prstGeom prst="rect">
            <a:avLst/>
          </a:prstGeom>
          <a:noFill/>
        </p:spPr>
        <p:txBody>
          <a:bodyPr wrap="square" rtlCol="0">
            <a:spAutoFit/>
          </a:bodyPr>
          <a:lstStyle/>
          <a:p>
            <a:r>
              <a:rPr lang="en-IN" dirty="0"/>
              <a:t>PROBLEM ON ALL METHODS</a:t>
            </a:r>
          </a:p>
        </p:txBody>
      </p:sp>
    </p:spTree>
    <p:extLst>
      <p:ext uri="{BB962C8B-B14F-4D97-AF65-F5344CB8AC3E}">
        <p14:creationId xmlns:p14="http://schemas.microsoft.com/office/powerpoint/2010/main" val="24648613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1748</TotalTime>
  <Words>4404</Words>
  <Application>Microsoft Office PowerPoint</Application>
  <PresentationFormat>Widescreen</PresentationFormat>
  <Paragraphs>402</Paragraphs>
  <Slides>48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Aleo</vt:lpstr>
      <vt:lpstr>Arial</vt:lpstr>
      <vt:lpstr>Calibri</vt:lpstr>
      <vt:lpstr>Century Gothic</vt:lpstr>
      <vt:lpstr>Georgia</vt:lpstr>
      <vt:lpstr>guardian-text-oreilly</vt:lpstr>
      <vt:lpstr>Poppins</vt:lpstr>
      <vt:lpstr>Times New Roman</vt:lpstr>
      <vt:lpstr>Wingdings 3</vt:lpstr>
      <vt:lpstr>Ion</vt:lpstr>
      <vt:lpstr>UNIT-4 Project Appraisal/ Evaluation Techniques Part-I Capital Budgeting </vt:lpstr>
      <vt:lpstr>Capital Budgeting</vt:lpstr>
      <vt:lpstr>Nature of Capital Budgeting</vt:lpstr>
      <vt:lpstr>Need and Importance of Capital Budgeting</vt:lpstr>
      <vt:lpstr>Scope of Capital Budgeting</vt:lpstr>
      <vt:lpstr>Capital Budgeting-Process  </vt:lpstr>
      <vt:lpstr>Capital budgeting Techniques</vt:lpstr>
      <vt:lpstr>Capital budgeting Techniques</vt:lpstr>
      <vt:lpstr>Capital budgeting Techniques Traditional Methods </vt:lpstr>
      <vt:lpstr>PowerPoint Presentation</vt:lpstr>
      <vt:lpstr>Traditional Methods  </vt:lpstr>
      <vt:lpstr>Traditional Methods-Payback Period Method  </vt:lpstr>
      <vt:lpstr>PowerPoint Presentation</vt:lpstr>
      <vt:lpstr>Traditional Methods-Payback period method </vt:lpstr>
      <vt:lpstr>PowerPoint Presentation</vt:lpstr>
      <vt:lpstr>Where the cash inflows are same., but timing is different.</vt:lpstr>
      <vt:lpstr>Where the cashflows are uneven</vt:lpstr>
      <vt:lpstr>PowerPoint Presentation</vt:lpstr>
      <vt:lpstr>PowerPoint Presentation</vt:lpstr>
      <vt:lpstr>When inflows are not even</vt:lpstr>
      <vt:lpstr>PowerPoint Presentation</vt:lpstr>
      <vt:lpstr>Accounting Rate of Return</vt:lpstr>
      <vt:lpstr>ARR</vt:lpstr>
      <vt:lpstr>Traditional Methods-ARR Method  </vt:lpstr>
      <vt:lpstr>PowerPoint Presentation</vt:lpstr>
      <vt:lpstr>PowerPoint Presentation</vt:lpstr>
      <vt:lpstr>PowerPoint Presentation</vt:lpstr>
      <vt:lpstr>Discounted Cash Flow Methods</vt:lpstr>
      <vt:lpstr>Net Present Value (NPV) </vt:lpstr>
      <vt:lpstr>NPV-Advantages</vt:lpstr>
      <vt:lpstr>NPV-Disadvantages</vt:lpstr>
      <vt:lpstr>Net Present Value</vt:lpstr>
      <vt:lpstr>The stages in the determination of NPV </vt:lpstr>
      <vt:lpstr>NPV in case of Even Cash Inflows</vt:lpstr>
      <vt:lpstr>Problem on NPV when uneven cash flows</vt:lpstr>
      <vt:lpstr>PowerPoint Presentation</vt:lpstr>
      <vt:lpstr>PowerPoint Presentation</vt:lpstr>
      <vt:lpstr>PowerPoint Presentation</vt:lpstr>
      <vt:lpstr>PowerPoint Presentation</vt:lpstr>
      <vt:lpstr>IRR</vt:lpstr>
      <vt:lpstr>PowerPoint Presentation</vt:lpstr>
      <vt:lpstr>PowerPoint Presentation</vt:lpstr>
      <vt:lpstr>PowerPoint Presentation</vt:lpstr>
      <vt:lpstr>NPV Vs IRR</vt:lpstr>
      <vt:lpstr>Profitability Index</vt:lpstr>
      <vt:lpstr>Profitability Index</vt:lpstr>
      <vt:lpstr>Problem on Profitability Index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Smitha Mahindrakar</cp:lastModifiedBy>
  <cp:revision>317</cp:revision>
  <dcterms:created xsi:type="dcterms:W3CDTF">2021-11-01T13:08:52Z</dcterms:created>
  <dcterms:modified xsi:type="dcterms:W3CDTF">2026-02-24T13:30:44Z</dcterms:modified>
</cp:coreProperties>
</file>