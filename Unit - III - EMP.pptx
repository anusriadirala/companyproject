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4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2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63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3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3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38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184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5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21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5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11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0272B-3BED-4C53-8945-336B3839294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77842-223D-4766-BA09-5FFE9FD2D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26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mpact+Assessment&amp;sca_esv=4e0afa210c5a2f47&amp;sxsrf=ANbL-n7oAmL-n1b7vBVnNpp2G71NdOjs2A%3A1768290701758&amp;ei=jfllacmFLruUseMP8NC8iA8&amp;ved=2ahUKEwj1h7irmYiSAxU3dmwGHZBuDpgQgK4QegYIAAgCEAE&amp;uact=5&amp;oq=environmental+management+plan+preperation&amp;gs_lp=Egxnd3Mtd2l6LXNlcnAiKWVudmlyb25tZW50YWwgbWFuYWdlbWVudCBwbGFuIHByZXBlcmF0aW9uMgcQABiABBgNMgYQABgWGB4yCxAAGIAEGIYDGIoFMgsQABiABBiGAxiKBTIIEAAYgAQYogQyCBAAGKIEGIkFMggQABiiBBiJBUiAIVDtB1jTGnABeAGQAQCYAboBoAHQDqoBBDAuMTG4AQPIAQD4AQGYAgygAv4OwgIKEAAYsAMY1gQYR8ICCxAAGIAEGJECGIoFwgIKEAAYgAQYFBiHAsICBRAAGIAEwgIIEAAYCBgNGB7CAgUQABjvBcICBxAhGKABGAqYAwCIBgGQBgiSBwQxLjExoAfoTrIHBDAuMTG4B_sOwgcFMC42LjbIByGACAA&amp;sclient=gws-wiz-serp" TargetMode="External"/><Relationship Id="rId2" Type="http://schemas.openxmlformats.org/officeDocument/2006/relationships/hyperlink" Target="https://www.google.com/search?q=Context+%26+Policy&amp;sca_esv=4e0afa210c5a2f47&amp;sxsrf=ANbL-n7oAmL-n1b7vBVnNpp2G71NdOjs2A%3A1768290701758&amp;ei=jfllacmFLruUseMP8NC8iA8&amp;ved=2ahUKEwj1h7irmYiSAxU3dmwGHZBuDpgQgK4QegYIAAgAEAk&amp;uact=5&amp;oq=environmental+management+plan+preperation&amp;gs_lp=Egxnd3Mtd2l6LXNlcnAiKWVudmlyb25tZW50YWwgbWFuYWdlbWVudCBwbGFuIHByZXBlcmF0aW9uMgcQABiABBgNMgYQABgWGB4yCxAAGIAEGIYDGIoFMgsQABiABBiGAxiKBTIIEAAYgAQYogQyCBAAGKIEGIkFMggQABiiBBiJBUiAIVDtB1jTGnABeAGQAQCYAboBoAHQDqoBBDAuMTG4AQPIAQD4AQGYAgygAv4OwgIKEAAYsAMY1gQYR8ICCxAAGIAEGJECGIoFwgIKEAAYgAQYFBiHAsICBRAAGIAEwgIIEAAYCBgNGB7CAgUQABjvBcICBxAhGKABGAqYAwCIBgGQBgiSBwQxLjExoAfoTrIHBDAuMTG4B_sOwgcFMC42LjbIByGACAA&amp;sclient=gws-wiz-ser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Emergency+Preparedness&amp;sca_esv=4e0afa210c5a2f47&amp;sxsrf=ANbL-n7oAmL-n1b7vBVnNpp2G71NdOjs2A%3A1768290701758&amp;ei=jfllacmFLruUseMP8NC8iA8&amp;ved=2ahUKEwj1h7irmYiSAxU3dmwGHZBuDpgQgK4QegYIAAgFEAE&amp;uact=5&amp;oq=environmental+management+plan+preperation&amp;gs_lp=Egxnd3Mtd2l6LXNlcnAiKWVudmlyb25tZW50YWwgbWFuYWdlbWVudCBwbGFuIHByZXBlcmF0aW9uMgcQABiABBgNMgYQABgWGB4yCxAAGIAEGIYDGIoFMgsQABiABBiGAxiKBTIIEAAYgAQYogQyCBAAGKIEGIkFMggQABiiBBiJBUiAIVDtB1jTGnABeAGQAQCYAboBoAHQDqoBBDAuMTG4AQPIAQD4AQGYAgygAv4OwgIKEAAYsAMY1gQYR8ICCxAAGIAEGJECGIoFwgIKEAAYgAQYFBiHAsICBRAAGIAEwgIIEAAYCBgNGB7CAgUQABjvBcICBxAhGKABGAqYAwCIBgGQBgiSBwQxLjExoAfoTrIHBDAuMTG4B_sOwgcFMC42LjbIByGACAA&amp;sclient=gws-wiz-serp" TargetMode="External"/><Relationship Id="rId5" Type="http://schemas.openxmlformats.org/officeDocument/2006/relationships/hyperlink" Target="https://www.google.com/search?q=Monitoring+%26+Reporting&amp;sca_esv=4e0afa210c5a2f47&amp;sxsrf=ANbL-n7oAmL-n1b7vBVnNpp2G71NdOjs2A%3A1768290701758&amp;ei=jfllacmFLruUseMP8NC8iA8&amp;ved=2ahUKEwj1h7irmYiSAxU3dmwGHZBuDpgQgK4QegYIAAgEEAE&amp;uact=5&amp;oq=environmental+management+plan+preperation&amp;gs_lp=Egxnd3Mtd2l6LXNlcnAiKWVudmlyb25tZW50YWwgbWFuYWdlbWVudCBwbGFuIHByZXBlcmF0aW9uMgcQABiABBgNMgYQABgWGB4yCxAAGIAEGIYDGIoFMgsQABiABBiGAxiKBTIIEAAYgAQYogQyCBAAGKIEGIkFMggQABiiBBiJBUiAIVDtB1jTGnABeAGQAQCYAboBoAHQDqoBBDAuMTG4AQPIAQD4AQGYAgygAv4OwgIKEAAYsAMY1gQYR8ICCxAAGIAEGJECGIoFwgIKEAAYgAQYFBiHAsICBRAAGIAEwgIIEAAYCBgNGB7CAgUQABjvBcICBxAhGKABGAqYAwCIBgGQBgiSBwQxLjExoAfoTrIHBDAuMTG4B_sOwgcFMC42LjbIByGACAA&amp;sclient=gws-wiz-serp" TargetMode="External"/><Relationship Id="rId4" Type="http://schemas.openxmlformats.org/officeDocument/2006/relationships/hyperlink" Target="https://www.google.com/search?q=Mitigation+%26+Control&amp;sca_esv=4e0afa210c5a2f47&amp;sxsrf=ANbL-n7oAmL-n1b7vBVnNpp2G71NdOjs2A%3A1768290701758&amp;ei=jfllacmFLruUseMP8NC8iA8&amp;ved=2ahUKEwj1h7irmYiSAxU3dmwGHZBuDpgQgK4QegYIAAgDEAE&amp;uact=5&amp;oq=environmental+management+plan+preperation&amp;gs_lp=Egxnd3Mtd2l6LXNlcnAiKWVudmlyb25tZW50YWwgbWFuYWdlbWVudCBwbGFuIHByZXBlcmF0aW9uMgcQABiABBgNMgYQABgWGB4yCxAAGIAEGIYDGIoFMgsQABiABBiGAxiKBTIIEAAYgAQYogQyCBAAGKIEGIkFMggQABiiBBiJBUiAIVDtB1jTGnABeAGQAQCYAboBoAHQDqoBBDAuMTG4AQPIAQD4AQGYAgygAv4OwgIKEAAYsAMY1gQYR8ICCxAAGIAEGJECGIoFwgIKEAAYgAQYFBiHAsICBRAAGIAEwgIIEAAYCBgNGB7CAgUQABjvBcICBxAhGKABGAqYAwCIBgGQBgiSBwQxLjExoAfoTrIHBDAuMTG4B_sOwgcFMC42LjbIByGACAA&amp;sclient=gws-wiz-ser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Environmental Management Plan (EMP)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89778"/>
            <a:ext cx="9144000" cy="968022"/>
          </a:xfrm>
        </p:spPr>
        <p:txBody>
          <a:bodyPr>
            <a:normAutofit/>
          </a:bodyPr>
          <a:lstStyle/>
          <a:p>
            <a:r>
              <a:rPr lang="en-IN" sz="4800" b="1" dirty="0" smtClean="0"/>
              <a:t>Unit - III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991976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164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Introduction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067" y="1027290"/>
            <a:ext cx="11706577" cy="5723466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solidFill>
                  <a:srgbClr val="0070C0"/>
                </a:solidFill>
              </a:rPr>
              <a:t>It is a document </a:t>
            </a:r>
            <a:r>
              <a:rPr lang="en-US" sz="3600" u="sng" dirty="0" smtClean="0">
                <a:solidFill>
                  <a:srgbClr val="0070C0"/>
                </a:solidFill>
              </a:rPr>
              <a:t>outlining measures to prevent, minimize, and mitigate a project's negative environmental impacts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smtClean="0">
                <a:solidFill>
                  <a:srgbClr val="0070C0"/>
                </a:solidFill>
              </a:rPr>
              <a:t>and</a:t>
            </a:r>
          </a:p>
          <a:p>
            <a:pPr algn="just"/>
            <a:r>
              <a:rPr lang="en-US" sz="3600" dirty="0" smtClean="0">
                <a:solidFill>
                  <a:srgbClr val="0070C0"/>
                </a:solidFill>
              </a:rPr>
              <a:t>Ensures </a:t>
            </a:r>
            <a:r>
              <a:rPr lang="en-US" sz="3600" u="sng" dirty="0" smtClean="0">
                <a:solidFill>
                  <a:srgbClr val="0070C0"/>
                </a:solidFill>
              </a:rPr>
              <a:t>sustainable development</a:t>
            </a:r>
            <a:r>
              <a:rPr lang="en-US" sz="3600" dirty="0" smtClean="0">
                <a:solidFill>
                  <a:srgbClr val="0070C0"/>
                </a:solidFill>
              </a:rPr>
              <a:t>, </a:t>
            </a:r>
            <a:r>
              <a:rPr lang="en-US" sz="3600" u="sng" dirty="0" smtClean="0">
                <a:solidFill>
                  <a:srgbClr val="0070C0"/>
                </a:solidFill>
              </a:rPr>
              <a:t>regulatory compliance</a:t>
            </a:r>
            <a:r>
              <a:rPr lang="en-US" sz="3600" dirty="0" smtClean="0">
                <a:solidFill>
                  <a:srgbClr val="0070C0"/>
                </a:solidFill>
              </a:rPr>
              <a:t>, and </a:t>
            </a:r>
            <a:r>
              <a:rPr lang="en-US" sz="3600" u="sng" dirty="0" smtClean="0">
                <a:solidFill>
                  <a:srgbClr val="0070C0"/>
                </a:solidFill>
              </a:rPr>
              <a:t>environmental protection through integrated management</a:t>
            </a:r>
            <a:r>
              <a:rPr lang="en-US" sz="3600" dirty="0" smtClean="0">
                <a:solidFill>
                  <a:srgbClr val="0070C0"/>
                </a:solidFill>
              </a:rPr>
              <a:t>, </a:t>
            </a:r>
            <a:r>
              <a:rPr lang="en-US" sz="3600" u="sng" dirty="0" smtClean="0">
                <a:solidFill>
                  <a:srgbClr val="0070C0"/>
                </a:solidFill>
              </a:rPr>
              <a:t>monitoring, and mitigation strategies</a:t>
            </a:r>
            <a:r>
              <a:rPr lang="en-US" sz="3600" dirty="0" smtClean="0">
                <a:solidFill>
                  <a:srgbClr val="0070C0"/>
                </a:solidFill>
              </a:rPr>
              <a:t> during all project phases (construction, operation).</a:t>
            </a:r>
          </a:p>
          <a:p>
            <a:pPr algn="just"/>
            <a:r>
              <a:rPr lang="en-US" sz="3600" dirty="0">
                <a:solidFill>
                  <a:srgbClr val="0070C0"/>
                </a:solidFill>
              </a:rPr>
              <a:t>It sets </a:t>
            </a:r>
            <a:r>
              <a:rPr lang="en-US" sz="3600" u="sng" dirty="0" smtClean="0">
                <a:solidFill>
                  <a:srgbClr val="0070C0"/>
                </a:solidFill>
              </a:rPr>
              <a:t>standards for pollution control</a:t>
            </a:r>
            <a:r>
              <a:rPr lang="en-US" sz="3600" dirty="0" smtClean="0">
                <a:solidFill>
                  <a:srgbClr val="0070C0"/>
                </a:solidFill>
              </a:rPr>
              <a:t>, </a:t>
            </a:r>
            <a:r>
              <a:rPr lang="en-US" sz="3600" u="sng" dirty="0">
                <a:solidFill>
                  <a:srgbClr val="0070C0"/>
                </a:solidFill>
              </a:rPr>
              <a:t>waste management, green spaces, and worker health</a:t>
            </a:r>
            <a:r>
              <a:rPr lang="en-US" sz="3600" dirty="0">
                <a:solidFill>
                  <a:srgbClr val="0070C0"/>
                </a:solidFill>
              </a:rPr>
              <a:t>, aligning economic goals with ecological </a:t>
            </a:r>
            <a:r>
              <a:rPr lang="en-US" sz="3600" dirty="0" smtClean="0">
                <a:solidFill>
                  <a:srgbClr val="0070C0"/>
                </a:solidFill>
              </a:rPr>
              <a:t>responsibility</a:t>
            </a:r>
            <a:r>
              <a:rPr lang="en-US" sz="3600" dirty="0" smtClean="0"/>
              <a:t>.</a:t>
            </a:r>
            <a:endParaRPr lang="en-IN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04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742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Intro – </a:t>
            </a:r>
            <a:r>
              <a:rPr lang="en-IN" b="1" dirty="0" err="1" smtClean="0">
                <a:solidFill>
                  <a:srgbClr val="C00000"/>
                </a:solidFill>
              </a:rPr>
              <a:t>Contd</a:t>
            </a:r>
            <a:r>
              <a:rPr lang="en-IN" b="1" dirty="0" smtClean="0">
                <a:solidFill>
                  <a:srgbClr val="C00000"/>
                </a:solidFill>
              </a:rPr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9868"/>
            <a:ext cx="10515600" cy="5127095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Environmental Management Plan (EMP) is a systematic plan prepared after EIA.</a:t>
            </a:r>
          </a:p>
          <a:p>
            <a:pPr lvl="0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It explains how environmental impacts will be managed and reduced.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rgbClr val="0070C0"/>
                </a:solidFill>
              </a:rPr>
              <a:t>EMP converts EIA recommendations into practical actions.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rgbClr val="0070C0"/>
                </a:solidFill>
              </a:rPr>
              <a:t> It ensures environmental protection during project execution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rgbClr val="0070C0"/>
                </a:solidFill>
              </a:rPr>
              <a:t>EMP supports sustainable development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EMP helps in reducing negative environmental impacts</a:t>
            </a:r>
            <a:endParaRPr lang="en-IN" dirty="0" smtClean="0">
              <a:solidFill>
                <a:srgbClr val="0070C0"/>
              </a:solidFill>
            </a:endParaRPr>
          </a:p>
          <a:p>
            <a:pPr lvl="0">
              <a:lnSpc>
                <a:spcPct val="150000"/>
              </a:lnSpc>
            </a:pPr>
            <a:endParaRPr lang="en-IN" dirty="0" smtClean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414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6342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Purpose: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1803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 </a:t>
            </a:r>
            <a:r>
              <a:rPr lang="en-US" sz="3200" dirty="0">
                <a:solidFill>
                  <a:srgbClr val="0070C0"/>
                </a:solidFill>
              </a:rPr>
              <a:t>To identify and manage potential environmental impacts, ensuring development is sustainable and compliant with laws.</a:t>
            </a:r>
          </a:p>
          <a:p>
            <a:r>
              <a:rPr lang="en-US" sz="3200" dirty="0" smtClean="0">
                <a:solidFill>
                  <a:srgbClr val="0070C0"/>
                </a:solidFill>
              </a:rPr>
              <a:t>To protect the environment during the project</a:t>
            </a:r>
          </a:p>
          <a:p>
            <a:r>
              <a:rPr lang="en-US" sz="3200" dirty="0" smtClean="0">
                <a:solidFill>
                  <a:srgbClr val="0070C0"/>
                </a:solidFill>
              </a:rPr>
              <a:t>To reduce pollution caused by project activities</a:t>
            </a:r>
          </a:p>
          <a:p>
            <a:r>
              <a:rPr lang="en-US" sz="3200" dirty="0" smtClean="0">
                <a:solidFill>
                  <a:srgbClr val="0070C0"/>
                </a:solidFill>
              </a:rPr>
              <a:t>To control environmental impacts on air, water, land, and noise</a:t>
            </a:r>
          </a:p>
          <a:p>
            <a:r>
              <a:rPr lang="en-US" sz="3200" dirty="0" smtClean="0">
                <a:solidFill>
                  <a:srgbClr val="0070C0"/>
                </a:solidFill>
              </a:rPr>
              <a:t>To implement EIA recommendations in practice</a:t>
            </a:r>
          </a:p>
          <a:p>
            <a:r>
              <a:rPr lang="en-US" sz="3200" dirty="0" smtClean="0">
                <a:solidFill>
                  <a:srgbClr val="0070C0"/>
                </a:solidFill>
              </a:rPr>
              <a:t>To follow environmental rules and regulations</a:t>
            </a:r>
          </a:p>
          <a:p>
            <a:r>
              <a:rPr lang="en-US" sz="3200" dirty="0" smtClean="0">
                <a:solidFill>
                  <a:srgbClr val="0070C0"/>
                </a:solidFill>
              </a:rPr>
              <a:t>To monitor and manage environmental performance</a:t>
            </a:r>
            <a:endParaRPr lang="en-IN" sz="3200" dirty="0" smtClean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05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Purpose of EMP: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9FF54D-035A-43EA-A7C7-7A562E632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0" r="731" b="2678"/>
          <a:stretch/>
        </p:blipFill>
        <p:spPr>
          <a:xfrm>
            <a:off x="3041357" y="1825625"/>
            <a:ext cx="61092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84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Objectives: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089" y="1083734"/>
            <a:ext cx="11537244" cy="565573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 </a:t>
            </a:r>
            <a:r>
              <a:rPr lang="en-US" dirty="0">
                <a:solidFill>
                  <a:srgbClr val="0070C0"/>
                </a:solidFill>
              </a:rPr>
              <a:t>Pollution prevention (air, water, waste, noise), compliance with environmental laws, ensuring worker safety, and integrating environmental costs into planning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To protect the environment during the project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To reduce pollution from project activities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To control harmful impacts on air, water, land, and noise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To follow environmental rules and laws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To manage waste properly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To monitor environmental conditions regularly</a:t>
            </a:r>
            <a:endParaRPr lang="en-IN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099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1186"/>
          </a:xfrm>
        </p:spPr>
        <p:txBody>
          <a:bodyPr/>
          <a:lstStyle/>
          <a:p>
            <a:r>
              <a:rPr lang="en-IN" b="1" dirty="0" smtClean="0">
                <a:solidFill>
                  <a:srgbClr val="C00000"/>
                </a:solidFill>
              </a:rPr>
              <a:t>Importance of EMP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1CED73E-15DC-461C-A533-66A822D70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910" y="1106312"/>
            <a:ext cx="9810045" cy="5508977"/>
          </a:xfrm>
        </p:spPr>
      </p:pic>
    </p:spTree>
    <p:extLst>
      <p:ext uri="{BB962C8B-B14F-4D97-AF65-F5344CB8AC3E}">
        <p14:creationId xmlns:p14="http://schemas.microsoft.com/office/powerpoint/2010/main" val="2705230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119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Importance of EMP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33" y="993422"/>
            <a:ext cx="11729156" cy="518354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Helps in preventing environmental damage</a:t>
            </a: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Ensures safe and healthy surroundings for people</a:t>
            </a: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Supports sustainable development</a:t>
            </a: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Reduces environmental risks and accidents</a:t>
            </a: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Improves project acceptance by society</a:t>
            </a: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Helps in smooth project operation</a:t>
            </a:r>
            <a:endParaRPr lang="en-IN" dirty="0" smtClean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49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719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Elements of EMP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956" y="970844"/>
            <a:ext cx="11277600" cy="58871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70C0"/>
                </a:solidFill>
              </a:rPr>
              <a:t>Key Elements include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Clear objectives,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Defined responsibilities,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Operational controls (like waste hierarchy),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Training, emergency procedures, and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Continuous monitoring &amp; review for improvement</a:t>
            </a:r>
            <a:endParaRPr lang="en-IN" dirty="0" smtClean="0">
              <a:solidFill>
                <a:srgbClr val="0070C0"/>
              </a:solidFill>
            </a:endParaRPr>
          </a:p>
          <a:p>
            <a:pPr algn="just"/>
            <a:r>
              <a:rPr lang="en-IN" dirty="0" smtClean="0">
                <a:solidFill>
                  <a:srgbClr val="0070C0"/>
                </a:solidFill>
              </a:rPr>
              <a:t>Identification of Environmental Impacts</a:t>
            </a:r>
          </a:p>
          <a:p>
            <a:pPr algn="just"/>
            <a:r>
              <a:rPr lang="en-IN" dirty="0" smtClean="0">
                <a:solidFill>
                  <a:srgbClr val="0070C0"/>
                </a:solidFill>
              </a:rPr>
              <a:t>Mitigation Measures</a:t>
            </a:r>
          </a:p>
          <a:p>
            <a:pPr algn="just"/>
            <a:r>
              <a:rPr lang="en-IN" dirty="0" smtClean="0">
                <a:solidFill>
                  <a:srgbClr val="0070C0"/>
                </a:solidFill>
              </a:rPr>
              <a:t>Monitoring Plan</a:t>
            </a:r>
          </a:p>
          <a:p>
            <a:pPr algn="just"/>
            <a:r>
              <a:rPr lang="en-IN" dirty="0" smtClean="0">
                <a:solidFill>
                  <a:srgbClr val="0070C0"/>
                </a:solidFill>
              </a:rPr>
              <a:t>Institutional Responsibilities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Implementation Schedule &amp; Budget</a:t>
            </a:r>
            <a:endParaRPr lang="en-IN" dirty="0" smtClean="0">
              <a:solidFill>
                <a:srgbClr val="0070C0"/>
              </a:solidFill>
            </a:endParaRPr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Reporting, Review, and Corrective Action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512711" y="2828836"/>
            <a:ext cx="924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262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Elements of EMP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140178"/>
            <a:ext cx="11503378" cy="5463821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1. Identification of Environmental Impacts</a:t>
            </a:r>
          </a:p>
          <a:p>
            <a:pPr marL="342900" indent="-342900" algn="just"/>
            <a:r>
              <a:rPr lang="en-US" dirty="0"/>
              <a:t>Identify and summarize </a:t>
            </a:r>
            <a:r>
              <a:rPr lang="en-US" b="1" dirty="0"/>
              <a:t>significant adverse and beneficial impacts</a:t>
            </a:r>
            <a:r>
              <a:rPr lang="en-US" dirty="0"/>
              <a:t> predicted in the EIA.</a:t>
            </a:r>
          </a:p>
          <a:p>
            <a:pPr marL="342900" indent="-342900" algn="just"/>
            <a:r>
              <a:rPr lang="en-US" dirty="0"/>
              <a:t>Covers impacts on air, water, land, ecology, noise, and socio-economic environment.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2. Mitigation Measures</a:t>
            </a:r>
          </a:p>
          <a:p>
            <a:pPr marL="342900" indent="-342900" algn="just"/>
            <a:r>
              <a:rPr lang="en-US" dirty="0"/>
              <a:t>Specify </a:t>
            </a:r>
            <a:r>
              <a:rPr lang="en-US" b="1" dirty="0"/>
              <a:t>measures to avoid, minimize, or compensate</a:t>
            </a:r>
            <a:r>
              <a:rPr lang="en-US" dirty="0"/>
              <a:t> for adverse impacts.</a:t>
            </a:r>
          </a:p>
          <a:p>
            <a:pPr marL="342900" indent="-342900" algn="just"/>
            <a:r>
              <a:rPr lang="en-US" dirty="0"/>
              <a:t>Includes engineering controls, operational practices, and ecological restoration.</a:t>
            </a:r>
          </a:p>
          <a:p>
            <a:pPr algn="just"/>
            <a:endParaRPr lang="en-US" dirty="0"/>
          </a:p>
          <a:p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3. Monitoring Plan</a:t>
            </a:r>
          </a:p>
          <a:p>
            <a:pPr marL="342900" indent="-342900"/>
            <a:r>
              <a:rPr lang="en-US" dirty="0"/>
              <a:t>Defines </a:t>
            </a:r>
            <a:r>
              <a:rPr lang="en-US" b="1" dirty="0"/>
              <a:t>what</a:t>
            </a:r>
            <a:r>
              <a:rPr lang="en-US" dirty="0"/>
              <a:t>, </a:t>
            </a:r>
            <a:r>
              <a:rPr lang="en-US" b="1" dirty="0"/>
              <a:t>where</a:t>
            </a:r>
            <a:r>
              <a:rPr lang="en-US" dirty="0"/>
              <a:t>, </a:t>
            </a:r>
            <a:r>
              <a:rPr lang="en-US" b="1" dirty="0"/>
              <a:t>how</a:t>
            </a:r>
            <a:r>
              <a:rPr lang="en-US" dirty="0"/>
              <a:t>, and </a:t>
            </a:r>
            <a:r>
              <a:rPr lang="en-US" b="1" dirty="0"/>
              <a:t>how often</a:t>
            </a:r>
            <a:r>
              <a:rPr lang="en-US" dirty="0"/>
              <a:t> monitoring is done</a:t>
            </a:r>
          </a:p>
          <a:p>
            <a:pPr marL="342900" indent="-342900"/>
            <a:r>
              <a:rPr lang="en-US" dirty="0"/>
              <a:t>Ensures mitigation measures are effective</a:t>
            </a:r>
          </a:p>
          <a:p>
            <a:pPr marL="342900" indent="-342900"/>
            <a:r>
              <a:rPr lang="en-US" dirty="0"/>
              <a:t>Includes standards/limits and corrective actions if limits are exceeded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70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7" y="365125"/>
            <a:ext cx="11492089" cy="61711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4. Institutional Responsibilities</a:t>
            </a:r>
          </a:p>
          <a:p>
            <a:pPr marL="342900" indent="-342900" algn="just"/>
            <a:r>
              <a:rPr lang="en-US" dirty="0"/>
              <a:t>Assigns roles and responsibilities for EMP implementation</a:t>
            </a:r>
          </a:p>
          <a:p>
            <a:pPr marL="342900" indent="-342900" algn="just"/>
            <a:r>
              <a:rPr lang="en-US" dirty="0"/>
              <a:t>Identifies project proponent, contractors, environmental officers, and authorities</a:t>
            </a:r>
          </a:p>
          <a:p>
            <a:pPr marL="342900" indent="-342900" algn="just"/>
            <a:r>
              <a:rPr lang="en-US" dirty="0"/>
              <a:t>Establishes reporting and supervision mechanisms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5. Implementation Schedule &amp; Budget</a:t>
            </a:r>
          </a:p>
          <a:p>
            <a:pPr marL="342900" indent="-342900" algn="just"/>
            <a:r>
              <a:rPr lang="en-US" dirty="0"/>
              <a:t>Timeline for mitigation and monitoring activities</a:t>
            </a:r>
          </a:p>
          <a:p>
            <a:pPr marL="342900" indent="-342900" algn="just"/>
            <a:r>
              <a:rPr lang="en-US" dirty="0"/>
              <a:t>Cost estimates for each EMP activity</a:t>
            </a:r>
          </a:p>
          <a:p>
            <a:pPr marL="342900" indent="-342900" algn="just"/>
            <a:r>
              <a:rPr lang="en-US" dirty="0"/>
              <a:t>Ensures availability of financial and human resources</a:t>
            </a:r>
          </a:p>
          <a:p>
            <a:pPr marL="342900" indent="-342900" algn="just"/>
            <a:endParaRPr lang="en-US" sz="32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6. Review, Reporting &amp; Corrective Action</a:t>
            </a:r>
          </a:p>
          <a:p>
            <a:pPr marL="342900" indent="-342900" algn="just"/>
            <a:r>
              <a:rPr lang="en-US" dirty="0"/>
              <a:t>Regular reporting of monitoring results</a:t>
            </a:r>
          </a:p>
          <a:p>
            <a:pPr marL="342900" indent="-342900" algn="just"/>
            <a:r>
              <a:rPr lang="en-US" dirty="0"/>
              <a:t>Periodic review and environmental audits</a:t>
            </a:r>
          </a:p>
          <a:p>
            <a:pPr marL="342900" indent="-342900" algn="just"/>
            <a:r>
              <a:rPr lang="en-US" dirty="0"/>
              <a:t>Modifications to EMP based on monitoring feedback and project change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438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11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Preparation of EMP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511" y="869244"/>
            <a:ext cx="11469511" cy="585893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It involves in systematic identifying a project's environmental impacts, defining mitigation measures, establishing monitoring protocols, and assigning responsibilities to ensure compliance with laws and promote sustainable development.</a:t>
            </a:r>
          </a:p>
          <a:p>
            <a:pPr marL="0" indent="0">
              <a:buNone/>
            </a:pPr>
            <a:r>
              <a:rPr lang="en-US" dirty="0" smtClean="0"/>
              <a:t>Key Aspects of EMP:</a:t>
            </a:r>
          </a:p>
          <a:p>
            <a:pPr marL="0" indent="0">
              <a:buNone/>
            </a:pPr>
            <a:r>
              <a:rPr lang="en-US" dirty="0"/>
              <a:t>aspects like air/water quality, waste, noise, and emergency response for construction and operational phases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82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7986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en-US" b="1" dirty="0">
                <a:solidFill>
                  <a:srgbClr val="001D35"/>
                </a:solidFill>
                <a:latin typeface="Google Sans"/>
              </a:rPr>
              <a:t>Key Steps in EMP Preparation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84804" y="1673090"/>
            <a:ext cx="10621773" cy="5017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2"/>
              </a:rPr>
              <a:t>Context &amp; Policy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Understand the project's scope and legal obligations (e.g., air/water acts).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Develop an environmental policy and secure leadership commitment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Define roles, responsibilities, and establish an EMS team.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3"/>
              </a:rPr>
              <a:t>Impact Assessment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Identify environmental aspects (emissions, waste, resource use) and related impacts (air/water pollution, noise, habitat disruption).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Analyze baseline environmental conditions and sensitive areas.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Assess potential risks and accidents.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4"/>
              </a:rPr>
              <a:t>Mitigation &amp; Control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Develop specific mitigation measures for pollution (air, water, noise, waste) at the source.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Plan for resource management, green belt development, and waste disposal.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Outline operational controls and safe work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5"/>
              </a:rPr>
              <a:t>Monitoring &amp; Reporting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Establish a monitoring system for key parameters (air quality, water, noise, emissions).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Include Quality Assurance/Quality Control (QA/QC) for monitoring.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Define data management, reporting protocols, and communication plans.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6"/>
              </a:rPr>
              <a:t>Emergency Preparedness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Develop emergency response procedures for accidents (spills, fires, chemical releases).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Conduct mock drills and ensure staff training.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46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660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Google Sans</vt:lpstr>
      <vt:lpstr>Office Theme</vt:lpstr>
      <vt:lpstr>Environmental Management Plan (EMP)</vt:lpstr>
      <vt:lpstr>Introduction</vt:lpstr>
      <vt:lpstr>Intro – Contd…</vt:lpstr>
      <vt:lpstr>Purpose:</vt:lpstr>
      <vt:lpstr>Purpose of EMP:</vt:lpstr>
      <vt:lpstr>Objectives:</vt:lpstr>
      <vt:lpstr>Importance of EMP</vt:lpstr>
      <vt:lpstr>Importance of EMP</vt:lpstr>
      <vt:lpstr>Elements of EMP</vt:lpstr>
      <vt:lpstr>Elements of EMP</vt:lpstr>
      <vt:lpstr>PowerPoint Presentation</vt:lpstr>
      <vt:lpstr>Preparation of EMP</vt:lpstr>
      <vt:lpstr>Key Steps in EMP Preparation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Management Plan (EMP)</dc:title>
  <dc:creator>ADMIN</dc:creator>
  <cp:lastModifiedBy>ADMIN</cp:lastModifiedBy>
  <cp:revision>5</cp:revision>
  <dcterms:created xsi:type="dcterms:W3CDTF">2026-01-13T07:53:11Z</dcterms:created>
  <dcterms:modified xsi:type="dcterms:W3CDTF">2026-01-13T09:30:48Z</dcterms:modified>
</cp:coreProperties>
</file>