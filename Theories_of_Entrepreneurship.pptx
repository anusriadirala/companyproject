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 snapToObjects="1">
      <p:cViewPr>
        <p:scale>
          <a:sx n="62" d="100"/>
          <a:sy n="62" d="100"/>
        </p:scale>
        <p:origin x="28" y="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4267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concept of entrepreneurship theories. Explain why multiple theories exist and how they help us understand entrepreneurial behavior from different perspectives.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Explain how economic conditions like profit, capital, and demand influence entrepreneurship. Give real-life examples of MSMEs and government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Schumpeter’s view of entrepreneurs as innovators. Explain creative destruction with simple examples students can relate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uncertainty vs risk. Clarify that entrepreneurs take responsibility for outcomes and profits are rewards for this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key personality traits such as need for achievement and confidence. Emphasize that these traits can be developed.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family, society, and culture influence entrepreneurial decisions. Give examples of business families in India.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how cultural values encourage or discourage entrepreneurship. Use regional business culture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importance of access to finance, skills, and technology. Mention Startup India and incubators.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entrepreneurs identify opportunities from change. Give fintech or UPI-based startup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leadership qualities of entrepreneurs such as vision, motivation, and decision-making.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inefficiencies in markets and how entrepreneurs improve productivity by filling gaps.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research and education lead to startups. Mention universities and incubators.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Summarize all theories and reinforce that entrepreneurship is multi-dimensional.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357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129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631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44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490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438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117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219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698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769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422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0730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2821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9631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205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2286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71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272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Theories of Entrepreneurship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Economic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Entrepreneurship driven by economic conditions.</a:t>
            </a:r>
          </a:p>
          <a:p>
            <a:r>
              <a:rPr dirty="0"/>
              <a:t>Profit motive </a:t>
            </a:r>
            <a:r>
              <a:rPr lang="en-IN" dirty="0"/>
              <a:t>is the main driver</a:t>
            </a:r>
          </a:p>
          <a:p>
            <a:r>
              <a:rPr lang="en-IN" dirty="0"/>
              <a:t>Influenced by capital, market demand and policies.</a:t>
            </a:r>
            <a:endParaRPr dirty="0"/>
          </a:p>
          <a:p>
            <a:r>
              <a:rPr dirty="0" err="1"/>
              <a:t>Favourable</a:t>
            </a:r>
            <a:r>
              <a:rPr dirty="0"/>
              <a:t> economy encourages startups.</a:t>
            </a:r>
          </a:p>
          <a:p>
            <a:r>
              <a:rPr dirty="0"/>
              <a:t>Indian Example: MSMEs supported by Make in India.</a:t>
            </a:r>
          </a:p>
          <a:p>
            <a:r>
              <a:rPr dirty="0"/>
              <a:t>Economic stability increases business confidence.</a:t>
            </a:r>
          </a:p>
          <a:p>
            <a:r>
              <a:rPr dirty="0"/>
              <a:t>Availability of credit plays a crucial role.</a:t>
            </a:r>
          </a:p>
          <a:p>
            <a:r>
              <a:rPr dirty="0"/>
              <a:t>Government policies strongly influence entrepreneurship.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Innovation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Proposed by Joseph Schumpeter.</a:t>
            </a:r>
          </a:p>
          <a:p>
            <a:r>
              <a:rPr dirty="0"/>
              <a:t>Entrepreneurs are innovators.</a:t>
            </a:r>
          </a:p>
          <a:p>
            <a:r>
              <a:rPr dirty="0"/>
              <a:t>They introduce new products</a:t>
            </a:r>
            <a:r>
              <a:rPr lang="en-IN" dirty="0"/>
              <a:t>, processes</a:t>
            </a:r>
            <a:r>
              <a:rPr dirty="0"/>
              <a:t> &amp; methods.</a:t>
            </a:r>
          </a:p>
          <a:p>
            <a:r>
              <a:rPr dirty="0"/>
              <a:t>Indian Example: Jio revolution in telecom.</a:t>
            </a:r>
          </a:p>
          <a:p>
            <a:r>
              <a:rPr dirty="0"/>
              <a:t>Innovation leads </a:t>
            </a:r>
            <a:r>
              <a:rPr lang="en-IN" dirty="0"/>
              <a:t>creative destruction and </a:t>
            </a:r>
            <a:r>
              <a:rPr dirty="0"/>
              <a:t> competitive advantage.</a:t>
            </a:r>
          </a:p>
          <a:p>
            <a:r>
              <a:rPr dirty="0"/>
              <a:t>Entrepreneurs disrupt existing markets.</a:t>
            </a:r>
          </a:p>
          <a:p>
            <a:r>
              <a:rPr dirty="0"/>
              <a:t>Technology is a key driver of innovation today.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Bearing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Given by Frank Knight.</a:t>
            </a:r>
          </a:p>
          <a:p>
            <a:r>
              <a:t>Entrepreneurs bear uncertainty.</a:t>
            </a:r>
          </a:p>
          <a:p>
            <a:r>
              <a:t>Profit is reward for risk.</a:t>
            </a:r>
          </a:p>
          <a:p>
            <a:r>
              <a:t>Indian Example: Startup founders investing own capital.</a:t>
            </a:r>
          </a:p>
          <a:p>
            <a:r>
              <a:t>Uncertainty cannot be insured.</a:t>
            </a:r>
          </a:p>
          <a:p>
            <a:r>
              <a:t>Entrepreneurs take responsibility for outcomes.</a:t>
            </a:r>
          </a:p>
          <a:p>
            <a:r>
              <a:t>Risk differentiates entrepreneurs from managers.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Psychological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Focus on personality traits.</a:t>
            </a:r>
          </a:p>
          <a:p>
            <a:r>
              <a:rPr dirty="0"/>
              <a:t>Need for achievement &amp; confidence.</a:t>
            </a:r>
          </a:p>
          <a:p>
            <a:r>
              <a:rPr dirty="0"/>
              <a:t>Risk-taking mindset.</a:t>
            </a:r>
          </a:p>
          <a:p>
            <a:r>
              <a:rPr dirty="0"/>
              <a:t>Indian Example: Ratan Tata’s </a:t>
            </a:r>
            <a:r>
              <a:rPr lang="en-IN" dirty="0"/>
              <a:t> vision, </a:t>
            </a:r>
            <a:r>
              <a:rPr lang="en-IN" dirty="0" err="1"/>
              <a:t>confidence,and</a:t>
            </a:r>
            <a:r>
              <a:rPr lang="en-IN" dirty="0"/>
              <a:t> </a:t>
            </a:r>
            <a:r>
              <a:rPr dirty="0"/>
              <a:t>leadership mindset.</a:t>
            </a:r>
          </a:p>
          <a:p>
            <a:r>
              <a:rPr dirty="0"/>
              <a:t>Motivation drives entrepreneurial success.</a:t>
            </a:r>
          </a:p>
          <a:p>
            <a:r>
              <a:rPr dirty="0"/>
              <a:t>Behavioral aspects matter in decision-making.</a:t>
            </a:r>
          </a:p>
          <a:p>
            <a:r>
              <a:rPr dirty="0"/>
              <a:t>Training can improve entrepreneurial traits.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Sociological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Social environment shapes entrepreneurs.</a:t>
            </a:r>
          </a:p>
          <a:p>
            <a:r>
              <a:rPr dirty="0"/>
              <a:t>Family, caste, culture matter.</a:t>
            </a:r>
          </a:p>
          <a:p>
            <a:r>
              <a:rPr dirty="0"/>
              <a:t>Indian Example: Family business communities</a:t>
            </a:r>
            <a:r>
              <a:rPr lang="en-IN" dirty="0"/>
              <a:t> like Marwari communities</a:t>
            </a:r>
            <a:r>
              <a:rPr dirty="0"/>
              <a:t>.</a:t>
            </a:r>
          </a:p>
          <a:p>
            <a:r>
              <a:rPr dirty="0"/>
              <a:t>Social networks support business growth.</a:t>
            </a:r>
          </a:p>
          <a:p>
            <a:r>
              <a:rPr dirty="0"/>
              <a:t>Community acceptance matters.</a:t>
            </a:r>
          </a:p>
          <a:p>
            <a:r>
              <a:rPr dirty="0"/>
              <a:t>Role models influence new entrepreneurs.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Anthropological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Cultural values influence business.</a:t>
            </a:r>
          </a:p>
          <a:p>
            <a:r>
              <a:rPr dirty="0"/>
              <a:t>Innovation-friendly cultures create entrepreneurs.</a:t>
            </a:r>
          </a:p>
          <a:p>
            <a:r>
              <a:rPr dirty="0"/>
              <a:t>Indian Example: Gujarat business culture</a:t>
            </a:r>
            <a:r>
              <a:rPr lang="en-IN" dirty="0"/>
              <a:t> encouraging entrepreneurship</a:t>
            </a:r>
            <a:r>
              <a:rPr dirty="0"/>
              <a:t>.</a:t>
            </a:r>
          </a:p>
          <a:p>
            <a:r>
              <a:rPr dirty="0"/>
              <a:t>Cultural values shape risk appetite.</a:t>
            </a:r>
          </a:p>
          <a:p>
            <a:r>
              <a:rPr dirty="0"/>
              <a:t>Tradition may support or restrict innovation.</a:t>
            </a:r>
          </a:p>
          <a:p>
            <a:r>
              <a:rPr dirty="0"/>
              <a:t>Culture evolves with economic change.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Resource-Based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Access to capital, skills, tech</a:t>
            </a:r>
          </a:p>
          <a:p>
            <a:r>
              <a:rPr dirty="0"/>
              <a:t>Resources increase success chances</a:t>
            </a:r>
          </a:p>
          <a:p>
            <a:r>
              <a:rPr dirty="0"/>
              <a:t>Indian Example: Startup India funding ecosystem</a:t>
            </a:r>
            <a:r>
              <a:rPr lang="en-IN" dirty="0"/>
              <a:t>,SIDBI, incubators</a:t>
            </a:r>
            <a:endParaRPr dirty="0"/>
          </a:p>
          <a:p>
            <a:r>
              <a:rPr dirty="0"/>
              <a:t>Financial inclusion boosts startups</a:t>
            </a:r>
          </a:p>
          <a:p>
            <a:r>
              <a:rPr dirty="0"/>
              <a:t>Human capital is critical</a:t>
            </a:r>
          </a:p>
          <a:p>
            <a:r>
              <a:rPr dirty="0"/>
              <a:t>Infrastructure supports scalability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Opportunity-Based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Peter Drucker’s theory.</a:t>
            </a:r>
          </a:p>
          <a:p>
            <a:r>
              <a:rPr dirty="0"/>
              <a:t>Entrepreneurs </a:t>
            </a:r>
            <a:r>
              <a:rPr lang="en-IN" dirty="0"/>
              <a:t>identify and </a:t>
            </a:r>
            <a:r>
              <a:rPr dirty="0"/>
              <a:t>exploit</a:t>
            </a:r>
            <a:r>
              <a:rPr lang="en-IN" dirty="0"/>
              <a:t> opportunities</a:t>
            </a:r>
            <a:r>
              <a:rPr dirty="0"/>
              <a:t>.</a:t>
            </a:r>
          </a:p>
          <a:p>
            <a:r>
              <a:rPr dirty="0"/>
              <a:t>Opportunity-focused innovation.</a:t>
            </a:r>
          </a:p>
          <a:p>
            <a:r>
              <a:rPr dirty="0"/>
              <a:t>Indian Example: UPI-based startups</a:t>
            </a:r>
            <a:r>
              <a:rPr lang="en-IN" dirty="0"/>
              <a:t> like </a:t>
            </a:r>
            <a:r>
              <a:rPr lang="en-IN" dirty="0" err="1"/>
              <a:t>PhonePe,Google</a:t>
            </a:r>
            <a:r>
              <a:rPr lang="en-IN" dirty="0"/>
              <a:t> Pay</a:t>
            </a:r>
            <a:endParaRPr dirty="0"/>
          </a:p>
          <a:p>
            <a:r>
              <a:rPr dirty="0"/>
              <a:t>Change creates business opportunities.</a:t>
            </a:r>
          </a:p>
          <a:p>
            <a:r>
              <a:rPr dirty="0"/>
              <a:t>Entrepreneurs anticipate market needs.</a:t>
            </a:r>
          </a:p>
          <a:p>
            <a:r>
              <a:rPr dirty="0"/>
              <a:t>Innovation is systematic, not accidental.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Leadership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Entrepreneurs as leaders</a:t>
            </a:r>
          </a:p>
          <a:p>
            <a:r>
              <a:rPr dirty="0"/>
              <a:t>Motivate &amp; guide team</a:t>
            </a:r>
            <a:r>
              <a:rPr lang="en-IN" dirty="0"/>
              <a:t>s</a:t>
            </a:r>
            <a:endParaRPr dirty="0"/>
          </a:p>
          <a:p>
            <a:r>
              <a:rPr dirty="0"/>
              <a:t>Vision-driven </a:t>
            </a:r>
            <a:r>
              <a:rPr lang="en-IN" dirty="0"/>
              <a:t> decision making </a:t>
            </a:r>
            <a:endParaRPr dirty="0"/>
          </a:p>
          <a:p>
            <a:r>
              <a:rPr dirty="0"/>
              <a:t>Indian Example: Infosys leadership model</a:t>
            </a:r>
            <a:r>
              <a:rPr lang="en-IN" dirty="0"/>
              <a:t>, strong organisational leadership</a:t>
            </a:r>
            <a:endParaRPr dirty="0"/>
          </a:p>
          <a:p>
            <a:r>
              <a:rPr dirty="0"/>
              <a:t>Leadership builds organizational culture</a:t>
            </a:r>
          </a:p>
          <a:p>
            <a:r>
              <a:rPr dirty="0"/>
              <a:t>Decision-making under pressure is key</a:t>
            </a:r>
          </a:p>
          <a:p>
            <a:r>
              <a:rPr dirty="0"/>
              <a:t>Vision drives long-term success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X-Efficiency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By Leibenstein</a:t>
            </a:r>
          </a:p>
          <a:p>
            <a:r>
              <a:rPr dirty="0"/>
              <a:t>Entrepreneurs improve efficiency</a:t>
            </a:r>
          </a:p>
          <a:p>
            <a:r>
              <a:rPr dirty="0"/>
              <a:t>Fill market gaps</a:t>
            </a:r>
          </a:p>
          <a:p>
            <a:r>
              <a:rPr dirty="0"/>
              <a:t>Indian Example: Small retailers digitizing</a:t>
            </a:r>
            <a:r>
              <a:rPr lang="en-IN" dirty="0"/>
              <a:t> like Kirana stores</a:t>
            </a:r>
            <a:endParaRPr dirty="0"/>
          </a:p>
          <a:p>
            <a:r>
              <a:rPr dirty="0"/>
              <a:t>Entrepreneurs reduce inefficiencies</a:t>
            </a:r>
          </a:p>
          <a:p>
            <a:r>
              <a:rPr dirty="0"/>
              <a:t>They coordinate resources effectively</a:t>
            </a:r>
          </a:p>
          <a:p>
            <a:r>
              <a:rPr dirty="0"/>
              <a:t>They respond to market gaps quickly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Knowledge Spillover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Unused knowledge creates startups</a:t>
            </a:r>
          </a:p>
          <a:p>
            <a:r>
              <a:rPr dirty="0"/>
              <a:t>Research leads to </a:t>
            </a:r>
            <a:r>
              <a:rPr lang="en-IN"/>
              <a:t>entrepreneurship</a:t>
            </a:r>
            <a:endParaRPr dirty="0"/>
          </a:p>
          <a:p>
            <a:r>
              <a:rPr dirty="0"/>
              <a:t>Indian Example: IIT incubators</a:t>
            </a:r>
          </a:p>
          <a:p>
            <a:r>
              <a:rPr dirty="0"/>
              <a:t>Universities support innovation</a:t>
            </a:r>
          </a:p>
          <a:p>
            <a:r>
              <a:rPr dirty="0"/>
              <a:t>R&amp;D leads to commercialization</a:t>
            </a:r>
          </a:p>
          <a:p>
            <a:r>
              <a:rPr dirty="0"/>
              <a:t>Knowledge fuels startup ecosystems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Entrepreneurship is multi-dimensional</a:t>
            </a:r>
          </a:p>
          <a:p>
            <a:r>
              <a:rPr dirty="0"/>
              <a:t>Theories explain origin &amp; success</a:t>
            </a:r>
          </a:p>
          <a:p>
            <a:r>
              <a:rPr dirty="0"/>
              <a:t>Useful for policy &amp; education</a:t>
            </a:r>
          </a:p>
          <a:p>
            <a:r>
              <a:rPr dirty="0"/>
              <a:t>Understanding theories improves practice</a:t>
            </a:r>
          </a:p>
          <a:p>
            <a:r>
              <a:rPr dirty="0"/>
              <a:t>No single theory is sufficient</a:t>
            </a:r>
          </a:p>
          <a:p>
            <a:r>
              <a:rPr dirty="0"/>
              <a:t>Integrated approach is essential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95</TotalTime>
  <Words>707</Words>
  <Application>Microsoft Office PowerPoint</Application>
  <PresentationFormat>Widescreen</PresentationFormat>
  <Paragraphs>106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Ion Boardroom</vt:lpstr>
      <vt:lpstr>Theories of Entrepreneurship</vt:lpstr>
      <vt:lpstr>Economic Theory</vt:lpstr>
      <vt:lpstr>Innovation Theory</vt:lpstr>
      <vt:lpstr>Risk Bearing Theory</vt:lpstr>
      <vt:lpstr>Psychological Theory</vt:lpstr>
      <vt:lpstr>Sociological Theory</vt:lpstr>
      <vt:lpstr>Anthropological Theory</vt:lpstr>
      <vt:lpstr>Resource-Based Theory</vt:lpstr>
      <vt:lpstr>Opportunity-Based Theory</vt:lpstr>
      <vt:lpstr>Leadership Theory</vt:lpstr>
      <vt:lpstr>X-Efficiency Theory</vt:lpstr>
      <vt:lpstr>Knowledge Spillover Theory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Smitha Mahindrakar</dc:creator>
  <cp:keywords/>
  <dc:description>generated using python-pptx</dc:description>
  <cp:lastModifiedBy>Smitha Mahindrakar</cp:lastModifiedBy>
  <cp:revision>11</cp:revision>
  <dcterms:created xsi:type="dcterms:W3CDTF">2013-01-27T09:14:16Z</dcterms:created>
  <dcterms:modified xsi:type="dcterms:W3CDTF">2026-01-19T17:40:52Z</dcterms:modified>
  <cp:category/>
</cp:coreProperties>
</file>